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648" r:id="rId4"/>
  </p:sldMasterIdLst>
  <p:sldIdLst>
    <p:sldId id="256" r:id="rId5"/>
    <p:sldId id="257" r:id="rId6"/>
    <p:sldId id="259" r:id="rId7"/>
    <p:sldId id="334" r:id="rId8"/>
    <p:sldId id="273" r:id="rId9"/>
    <p:sldId id="263" r:id="rId10"/>
    <p:sldId id="336" r:id="rId11"/>
    <p:sldId id="279" r:id="rId12"/>
    <p:sldId id="280" r:id="rId13"/>
    <p:sldId id="284" r:id="rId14"/>
    <p:sldId id="266" r:id="rId15"/>
    <p:sldId id="319" r:id="rId16"/>
    <p:sldId id="362" r:id="rId17"/>
    <p:sldId id="366" r:id="rId18"/>
    <p:sldId id="359" r:id="rId19"/>
    <p:sldId id="290" r:id="rId20"/>
    <p:sldId id="343" r:id="rId21"/>
    <p:sldId id="301" r:id="rId22"/>
    <p:sldId id="348" r:id="rId23"/>
    <p:sldId id="360" r:id="rId24"/>
    <p:sldId id="367" r:id="rId25"/>
    <p:sldId id="368" r:id="rId26"/>
    <p:sldId id="369" r:id="rId27"/>
    <p:sldId id="308" r:id="rId28"/>
    <p:sldId id="309" r:id="rId29"/>
    <p:sldId id="370" r:id="rId30"/>
    <p:sldId id="342" r:id="rId31"/>
    <p:sldId id="291" r:id="rId32"/>
    <p:sldId id="347" r:id="rId33"/>
    <p:sldId id="325" r:id="rId34"/>
    <p:sldId id="371" r:id="rId35"/>
    <p:sldId id="314" r:id="rId36"/>
    <p:sldId id="344" r:id="rId37"/>
    <p:sldId id="363" r:id="rId38"/>
    <p:sldId id="269" r:id="rId3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79C3CF-8A22-4F4E-8457-47D6D49170BD}" v="354" dt="2025-11-11T12:23:49.272"/>
    <p1510:client id="{3F926D60-E6F6-4404-A0CE-718CBED3257E}" v="35" dt="2025-11-12T04:47:32.421"/>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5535" autoAdjust="0"/>
  </p:normalViewPr>
  <p:slideViewPr>
    <p:cSldViewPr snapToGrid="0">
      <p:cViewPr varScale="1">
        <p:scale>
          <a:sx n="113" d="100"/>
          <a:sy n="113" d="100"/>
        </p:scale>
        <p:origin x="30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E6F43A-C653-FA77-A01C-381705D0D64B}"/>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106B804-9D7E-F21C-152E-01A747FFE2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933B3654-2F8E-9E49-4798-4E0C2A24267A}"/>
              </a:ext>
            </a:extLst>
          </p:cNvPr>
          <p:cNvSpPr>
            <a:spLocks noGrp="1"/>
          </p:cNvSpPr>
          <p:nvPr>
            <p:ph type="dt" sz="half" idx="10"/>
          </p:nvPr>
        </p:nvSpPr>
        <p:spPr/>
        <p:txBody>
          <a:bodyPr/>
          <a:lstStyle/>
          <a:p>
            <a:fld id="{3F308CF6-71EE-4634-B39E-3ED9F79FB31F}" type="datetimeFigureOut">
              <a:rPr lang="es-CO" smtClean="0"/>
              <a:t>18/11/2025</a:t>
            </a:fld>
            <a:endParaRPr lang="es-CO"/>
          </a:p>
        </p:txBody>
      </p:sp>
      <p:sp>
        <p:nvSpPr>
          <p:cNvPr id="5" name="Marcador de pie de página 4">
            <a:extLst>
              <a:ext uri="{FF2B5EF4-FFF2-40B4-BE49-F238E27FC236}">
                <a16:creationId xmlns:a16="http://schemas.microsoft.com/office/drawing/2014/main" id="{2B34EEDF-B44F-0E30-AB19-2A14611CD9C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2F70BF7-44C7-33C5-5A26-45FC75E5A67C}"/>
              </a:ext>
            </a:extLst>
          </p:cNvPr>
          <p:cNvSpPr>
            <a:spLocks noGrp="1"/>
          </p:cNvSpPr>
          <p:nvPr>
            <p:ph type="sldNum" sz="quarter" idx="12"/>
          </p:nvPr>
        </p:nvSpPr>
        <p:spPr/>
        <p:txBody>
          <a:bodyPr/>
          <a:lstStyle/>
          <a:p>
            <a:fld id="{C64ABE24-A68A-4D73-A0C4-E8FB0D081592}" type="slidenum">
              <a:rPr lang="es-CO" smtClean="0"/>
              <a:t>‹Nº›</a:t>
            </a:fld>
            <a:endParaRPr lang="es-CO"/>
          </a:p>
        </p:txBody>
      </p:sp>
    </p:spTree>
    <p:extLst>
      <p:ext uri="{BB962C8B-B14F-4D97-AF65-F5344CB8AC3E}">
        <p14:creationId xmlns:p14="http://schemas.microsoft.com/office/powerpoint/2010/main" val="3824467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5B6465-77FB-9522-51BD-8286EA1B13C8}"/>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D35873F-2628-CB78-08BB-4397DD75D17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D4F35762-4EA5-5597-13D0-C85C0B2239B3}"/>
              </a:ext>
            </a:extLst>
          </p:cNvPr>
          <p:cNvSpPr>
            <a:spLocks noGrp="1"/>
          </p:cNvSpPr>
          <p:nvPr>
            <p:ph type="dt" sz="half" idx="10"/>
          </p:nvPr>
        </p:nvSpPr>
        <p:spPr/>
        <p:txBody>
          <a:bodyPr/>
          <a:lstStyle/>
          <a:p>
            <a:fld id="{3F308CF6-71EE-4634-B39E-3ED9F79FB31F}" type="datetimeFigureOut">
              <a:rPr lang="es-CO" smtClean="0"/>
              <a:t>18/11/2025</a:t>
            </a:fld>
            <a:endParaRPr lang="es-CO"/>
          </a:p>
        </p:txBody>
      </p:sp>
      <p:sp>
        <p:nvSpPr>
          <p:cNvPr id="5" name="Marcador de pie de página 4">
            <a:extLst>
              <a:ext uri="{FF2B5EF4-FFF2-40B4-BE49-F238E27FC236}">
                <a16:creationId xmlns:a16="http://schemas.microsoft.com/office/drawing/2014/main" id="{33C10CF1-95F1-37B6-74F0-90FD5DBCD8B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45202A7-8719-61F0-038F-196BC37F431D}"/>
              </a:ext>
            </a:extLst>
          </p:cNvPr>
          <p:cNvSpPr>
            <a:spLocks noGrp="1"/>
          </p:cNvSpPr>
          <p:nvPr>
            <p:ph type="sldNum" sz="quarter" idx="12"/>
          </p:nvPr>
        </p:nvSpPr>
        <p:spPr/>
        <p:txBody>
          <a:bodyPr/>
          <a:lstStyle/>
          <a:p>
            <a:fld id="{C64ABE24-A68A-4D73-A0C4-E8FB0D081592}" type="slidenum">
              <a:rPr lang="es-CO" smtClean="0"/>
              <a:t>‹Nº›</a:t>
            </a:fld>
            <a:endParaRPr lang="es-CO"/>
          </a:p>
        </p:txBody>
      </p:sp>
    </p:spTree>
    <p:extLst>
      <p:ext uri="{BB962C8B-B14F-4D97-AF65-F5344CB8AC3E}">
        <p14:creationId xmlns:p14="http://schemas.microsoft.com/office/powerpoint/2010/main" val="2111732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AE154C-D303-7050-8E31-03B872974B3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83F2F68-F93D-BF4A-2A70-D1881BFB08F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D08FDD3-C7E7-9D8E-5AA0-1B4A5ED99534}"/>
              </a:ext>
            </a:extLst>
          </p:cNvPr>
          <p:cNvSpPr>
            <a:spLocks noGrp="1"/>
          </p:cNvSpPr>
          <p:nvPr>
            <p:ph type="dt" sz="half" idx="10"/>
          </p:nvPr>
        </p:nvSpPr>
        <p:spPr/>
        <p:txBody>
          <a:bodyPr/>
          <a:lstStyle/>
          <a:p>
            <a:fld id="{3F308CF6-71EE-4634-B39E-3ED9F79FB31F}" type="datetimeFigureOut">
              <a:rPr lang="es-CO" smtClean="0"/>
              <a:t>18/11/2025</a:t>
            </a:fld>
            <a:endParaRPr lang="es-CO"/>
          </a:p>
        </p:txBody>
      </p:sp>
      <p:sp>
        <p:nvSpPr>
          <p:cNvPr id="5" name="Marcador de pie de página 4">
            <a:extLst>
              <a:ext uri="{FF2B5EF4-FFF2-40B4-BE49-F238E27FC236}">
                <a16:creationId xmlns:a16="http://schemas.microsoft.com/office/drawing/2014/main" id="{E06B7873-63AE-3B54-5BA8-F6E8B862092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8CB5DB9-268A-1037-55C0-57FAE8F6C7B9}"/>
              </a:ext>
            </a:extLst>
          </p:cNvPr>
          <p:cNvSpPr>
            <a:spLocks noGrp="1"/>
          </p:cNvSpPr>
          <p:nvPr>
            <p:ph type="sldNum" sz="quarter" idx="12"/>
          </p:nvPr>
        </p:nvSpPr>
        <p:spPr/>
        <p:txBody>
          <a:bodyPr/>
          <a:lstStyle/>
          <a:p>
            <a:fld id="{C64ABE24-A68A-4D73-A0C4-E8FB0D081592}" type="slidenum">
              <a:rPr lang="es-CO" smtClean="0"/>
              <a:t>‹Nº›</a:t>
            </a:fld>
            <a:endParaRPr lang="es-CO"/>
          </a:p>
        </p:txBody>
      </p:sp>
    </p:spTree>
    <p:extLst>
      <p:ext uri="{BB962C8B-B14F-4D97-AF65-F5344CB8AC3E}">
        <p14:creationId xmlns:p14="http://schemas.microsoft.com/office/powerpoint/2010/main" val="1467333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DD7891-5F44-910E-B070-F27A67CA894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6836E195-824D-D85C-7AC8-D6485AB485F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2A3F8C09-554B-9DA7-6A49-6191EEA5945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8C8BCBCF-6BAB-58BF-CE8C-DE1C49A65B9A}"/>
              </a:ext>
            </a:extLst>
          </p:cNvPr>
          <p:cNvSpPr>
            <a:spLocks noGrp="1"/>
          </p:cNvSpPr>
          <p:nvPr>
            <p:ph type="dt" sz="half" idx="10"/>
          </p:nvPr>
        </p:nvSpPr>
        <p:spPr/>
        <p:txBody>
          <a:bodyPr/>
          <a:lstStyle/>
          <a:p>
            <a:fld id="{3F308CF6-71EE-4634-B39E-3ED9F79FB31F}" type="datetimeFigureOut">
              <a:rPr lang="es-CO" smtClean="0"/>
              <a:t>18/11/2025</a:t>
            </a:fld>
            <a:endParaRPr lang="es-CO"/>
          </a:p>
        </p:txBody>
      </p:sp>
      <p:sp>
        <p:nvSpPr>
          <p:cNvPr id="6" name="Marcador de pie de página 5">
            <a:extLst>
              <a:ext uri="{FF2B5EF4-FFF2-40B4-BE49-F238E27FC236}">
                <a16:creationId xmlns:a16="http://schemas.microsoft.com/office/drawing/2014/main" id="{77423FB9-248F-FD8B-24AD-AD950F14A2C7}"/>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B9ABA35-02D3-C8B0-4EA3-9C0F1706FF00}"/>
              </a:ext>
            </a:extLst>
          </p:cNvPr>
          <p:cNvSpPr>
            <a:spLocks noGrp="1"/>
          </p:cNvSpPr>
          <p:nvPr>
            <p:ph type="sldNum" sz="quarter" idx="12"/>
          </p:nvPr>
        </p:nvSpPr>
        <p:spPr/>
        <p:txBody>
          <a:bodyPr/>
          <a:lstStyle/>
          <a:p>
            <a:fld id="{C64ABE24-A68A-4D73-A0C4-E8FB0D081592}" type="slidenum">
              <a:rPr lang="es-CO" smtClean="0"/>
              <a:t>‹Nº›</a:t>
            </a:fld>
            <a:endParaRPr lang="es-CO"/>
          </a:p>
        </p:txBody>
      </p:sp>
    </p:spTree>
    <p:extLst>
      <p:ext uri="{BB962C8B-B14F-4D97-AF65-F5344CB8AC3E}">
        <p14:creationId xmlns:p14="http://schemas.microsoft.com/office/powerpoint/2010/main" val="333936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A36360-50EF-975A-9A31-9DEE77FE4AC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C28DBC4-BE48-5675-ECC2-F1255AA459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EA1FAB18-99EB-3095-66DA-AA588A7D5C7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66BDAF4F-F03E-ACE7-4BCC-C32825B00A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C848F7E-1903-EB0B-B006-FAD19514C4F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8FCCD61-30F9-935C-1C74-AB30A6784CA4}"/>
              </a:ext>
            </a:extLst>
          </p:cNvPr>
          <p:cNvSpPr>
            <a:spLocks noGrp="1"/>
          </p:cNvSpPr>
          <p:nvPr>
            <p:ph type="dt" sz="half" idx="10"/>
          </p:nvPr>
        </p:nvSpPr>
        <p:spPr/>
        <p:txBody>
          <a:bodyPr/>
          <a:lstStyle/>
          <a:p>
            <a:fld id="{3F308CF6-71EE-4634-B39E-3ED9F79FB31F}" type="datetimeFigureOut">
              <a:rPr lang="es-CO" smtClean="0"/>
              <a:t>18/11/2025</a:t>
            </a:fld>
            <a:endParaRPr lang="es-CO"/>
          </a:p>
        </p:txBody>
      </p:sp>
      <p:sp>
        <p:nvSpPr>
          <p:cNvPr id="8" name="Marcador de pie de página 7">
            <a:extLst>
              <a:ext uri="{FF2B5EF4-FFF2-40B4-BE49-F238E27FC236}">
                <a16:creationId xmlns:a16="http://schemas.microsoft.com/office/drawing/2014/main" id="{65338197-1DE0-C11E-F0C3-9102730CA719}"/>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8BAB78CC-683F-5A3E-1332-75C77AF2E854}"/>
              </a:ext>
            </a:extLst>
          </p:cNvPr>
          <p:cNvSpPr>
            <a:spLocks noGrp="1"/>
          </p:cNvSpPr>
          <p:nvPr>
            <p:ph type="sldNum" sz="quarter" idx="12"/>
          </p:nvPr>
        </p:nvSpPr>
        <p:spPr/>
        <p:txBody>
          <a:bodyPr/>
          <a:lstStyle/>
          <a:p>
            <a:fld id="{C64ABE24-A68A-4D73-A0C4-E8FB0D081592}" type="slidenum">
              <a:rPr lang="es-CO" smtClean="0"/>
              <a:t>‹Nº›</a:t>
            </a:fld>
            <a:endParaRPr lang="es-CO"/>
          </a:p>
        </p:txBody>
      </p:sp>
    </p:spTree>
    <p:extLst>
      <p:ext uri="{BB962C8B-B14F-4D97-AF65-F5344CB8AC3E}">
        <p14:creationId xmlns:p14="http://schemas.microsoft.com/office/powerpoint/2010/main" val="3690738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E3189D-6CE8-663F-2641-F3A84FBCEDAD}"/>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AFBCEDB4-4BE4-42DC-BBD7-5C3A7AD98D27}"/>
              </a:ext>
            </a:extLst>
          </p:cNvPr>
          <p:cNvSpPr>
            <a:spLocks noGrp="1"/>
          </p:cNvSpPr>
          <p:nvPr>
            <p:ph type="dt" sz="half" idx="10"/>
          </p:nvPr>
        </p:nvSpPr>
        <p:spPr/>
        <p:txBody>
          <a:bodyPr/>
          <a:lstStyle/>
          <a:p>
            <a:fld id="{3F308CF6-71EE-4634-B39E-3ED9F79FB31F}" type="datetimeFigureOut">
              <a:rPr lang="es-CO" smtClean="0"/>
              <a:t>18/11/2025</a:t>
            </a:fld>
            <a:endParaRPr lang="es-CO"/>
          </a:p>
        </p:txBody>
      </p:sp>
      <p:sp>
        <p:nvSpPr>
          <p:cNvPr id="4" name="Marcador de pie de página 3">
            <a:extLst>
              <a:ext uri="{FF2B5EF4-FFF2-40B4-BE49-F238E27FC236}">
                <a16:creationId xmlns:a16="http://schemas.microsoft.com/office/drawing/2014/main" id="{0A78D099-979B-8011-D7F6-F93A784067A6}"/>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81E9B7A6-1698-D66A-3985-63E8D9CDC7C2}"/>
              </a:ext>
            </a:extLst>
          </p:cNvPr>
          <p:cNvSpPr>
            <a:spLocks noGrp="1"/>
          </p:cNvSpPr>
          <p:nvPr>
            <p:ph type="sldNum" sz="quarter" idx="12"/>
          </p:nvPr>
        </p:nvSpPr>
        <p:spPr/>
        <p:txBody>
          <a:bodyPr/>
          <a:lstStyle/>
          <a:p>
            <a:fld id="{C64ABE24-A68A-4D73-A0C4-E8FB0D081592}" type="slidenum">
              <a:rPr lang="es-CO" smtClean="0"/>
              <a:t>‹Nº›</a:t>
            </a:fld>
            <a:endParaRPr lang="es-CO"/>
          </a:p>
        </p:txBody>
      </p:sp>
    </p:spTree>
    <p:extLst>
      <p:ext uri="{BB962C8B-B14F-4D97-AF65-F5344CB8AC3E}">
        <p14:creationId xmlns:p14="http://schemas.microsoft.com/office/powerpoint/2010/main" val="1813723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B5D252D-A9F2-C4D8-FC7E-F9ABC30A4AB7}"/>
              </a:ext>
            </a:extLst>
          </p:cNvPr>
          <p:cNvSpPr>
            <a:spLocks noGrp="1"/>
          </p:cNvSpPr>
          <p:nvPr>
            <p:ph type="dt" sz="half" idx="10"/>
          </p:nvPr>
        </p:nvSpPr>
        <p:spPr/>
        <p:txBody>
          <a:bodyPr/>
          <a:lstStyle/>
          <a:p>
            <a:fld id="{3F308CF6-71EE-4634-B39E-3ED9F79FB31F}" type="datetimeFigureOut">
              <a:rPr lang="es-CO" smtClean="0"/>
              <a:t>18/11/2025</a:t>
            </a:fld>
            <a:endParaRPr lang="es-CO"/>
          </a:p>
        </p:txBody>
      </p:sp>
      <p:sp>
        <p:nvSpPr>
          <p:cNvPr id="3" name="Marcador de pie de página 2">
            <a:extLst>
              <a:ext uri="{FF2B5EF4-FFF2-40B4-BE49-F238E27FC236}">
                <a16:creationId xmlns:a16="http://schemas.microsoft.com/office/drawing/2014/main" id="{905A8BCF-CE89-C4B2-76D6-80FE53819614}"/>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97E1FDD5-AC79-63F4-9273-932A07E68E2F}"/>
              </a:ext>
            </a:extLst>
          </p:cNvPr>
          <p:cNvSpPr>
            <a:spLocks noGrp="1"/>
          </p:cNvSpPr>
          <p:nvPr>
            <p:ph type="sldNum" sz="quarter" idx="12"/>
          </p:nvPr>
        </p:nvSpPr>
        <p:spPr/>
        <p:txBody>
          <a:bodyPr/>
          <a:lstStyle/>
          <a:p>
            <a:fld id="{C64ABE24-A68A-4D73-A0C4-E8FB0D081592}" type="slidenum">
              <a:rPr lang="es-CO" smtClean="0"/>
              <a:t>‹Nº›</a:t>
            </a:fld>
            <a:endParaRPr lang="es-CO"/>
          </a:p>
        </p:txBody>
      </p:sp>
    </p:spTree>
    <p:extLst>
      <p:ext uri="{BB962C8B-B14F-4D97-AF65-F5344CB8AC3E}">
        <p14:creationId xmlns:p14="http://schemas.microsoft.com/office/powerpoint/2010/main" val="3863251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232087-5A1D-F999-349F-0F0B3F453F6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78BB8D9-7A97-7F24-58C5-8576E24030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0FFA3BD6-0296-301A-8193-14E3831D23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61FF451-86CF-B3A2-1439-CE2B4CB735E4}"/>
              </a:ext>
            </a:extLst>
          </p:cNvPr>
          <p:cNvSpPr>
            <a:spLocks noGrp="1"/>
          </p:cNvSpPr>
          <p:nvPr>
            <p:ph type="dt" sz="half" idx="10"/>
          </p:nvPr>
        </p:nvSpPr>
        <p:spPr/>
        <p:txBody>
          <a:bodyPr/>
          <a:lstStyle/>
          <a:p>
            <a:fld id="{3F308CF6-71EE-4634-B39E-3ED9F79FB31F}" type="datetimeFigureOut">
              <a:rPr lang="es-CO" smtClean="0"/>
              <a:t>18/11/2025</a:t>
            </a:fld>
            <a:endParaRPr lang="es-CO"/>
          </a:p>
        </p:txBody>
      </p:sp>
      <p:sp>
        <p:nvSpPr>
          <p:cNvPr id="6" name="Marcador de pie de página 5">
            <a:extLst>
              <a:ext uri="{FF2B5EF4-FFF2-40B4-BE49-F238E27FC236}">
                <a16:creationId xmlns:a16="http://schemas.microsoft.com/office/drawing/2014/main" id="{1BA1C015-B2F7-6C44-49FF-E3140C6C2F6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D2E2CBCE-9809-52F6-68BA-786D3F2CD841}"/>
              </a:ext>
            </a:extLst>
          </p:cNvPr>
          <p:cNvSpPr>
            <a:spLocks noGrp="1"/>
          </p:cNvSpPr>
          <p:nvPr>
            <p:ph type="sldNum" sz="quarter" idx="12"/>
          </p:nvPr>
        </p:nvSpPr>
        <p:spPr/>
        <p:txBody>
          <a:bodyPr/>
          <a:lstStyle/>
          <a:p>
            <a:fld id="{C64ABE24-A68A-4D73-A0C4-E8FB0D081592}" type="slidenum">
              <a:rPr lang="es-CO" smtClean="0"/>
              <a:t>‹Nº›</a:t>
            </a:fld>
            <a:endParaRPr lang="es-CO"/>
          </a:p>
        </p:txBody>
      </p:sp>
    </p:spTree>
    <p:extLst>
      <p:ext uri="{BB962C8B-B14F-4D97-AF65-F5344CB8AC3E}">
        <p14:creationId xmlns:p14="http://schemas.microsoft.com/office/powerpoint/2010/main" val="335497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338D62-E4E8-3DF0-52BC-1A2C4F44067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92433382-2DEB-E9FB-CAA2-A056460BFE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FE7D4918-413C-AF19-CDAB-D950E4E687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AD97A0C-3239-B247-C548-2FD444804EC7}"/>
              </a:ext>
            </a:extLst>
          </p:cNvPr>
          <p:cNvSpPr>
            <a:spLocks noGrp="1"/>
          </p:cNvSpPr>
          <p:nvPr>
            <p:ph type="dt" sz="half" idx="10"/>
          </p:nvPr>
        </p:nvSpPr>
        <p:spPr/>
        <p:txBody>
          <a:bodyPr/>
          <a:lstStyle/>
          <a:p>
            <a:fld id="{3F308CF6-71EE-4634-B39E-3ED9F79FB31F}" type="datetimeFigureOut">
              <a:rPr lang="es-CO" smtClean="0"/>
              <a:t>18/11/2025</a:t>
            </a:fld>
            <a:endParaRPr lang="es-CO"/>
          </a:p>
        </p:txBody>
      </p:sp>
      <p:sp>
        <p:nvSpPr>
          <p:cNvPr id="6" name="Marcador de pie de página 5">
            <a:extLst>
              <a:ext uri="{FF2B5EF4-FFF2-40B4-BE49-F238E27FC236}">
                <a16:creationId xmlns:a16="http://schemas.microsoft.com/office/drawing/2014/main" id="{F50D753D-1E78-E515-453F-A71A69032526}"/>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0D4F7C4-7C3C-4490-B921-EC12FE3E00DE}"/>
              </a:ext>
            </a:extLst>
          </p:cNvPr>
          <p:cNvSpPr>
            <a:spLocks noGrp="1"/>
          </p:cNvSpPr>
          <p:nvPr>
            <p:ph type="sldNum" sz="quarter" idx="12"/>
          </p:nvPr>
        </p:nvSpPr>
        <p:spPr/>
        <p:txBody>
          <a:bodyPr/>
          <a:lstStyle/>
          <a:p>
            <a:fld id="{C64ABE24-A68A-4D73-A0C4-E8FB0D081592}" type="slidenum">
              <a:rPr lang="es-CO" smtClean="0"/>
              <a:t>‹Nº›</a:t>
            </a:fld>
            <a:endParaRPr lang="es-CO"/>
          </a:p>
        </p:txBody>
      </p:sp>
    </p:spTree>
    <p:extLst>
      <p:ext uri="{BB962C8B-B14F-4D97-AF65-F5344CB8AC3E}">
        <p14:creationId xmlns:p14="http://schemas.microsoft.com/office/powerpoint/2010/main" val="584595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87A105-AC39-8F4E-F30F-486BFBDE522D}"/>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CB7D63B4-4641-BC35-5971-B9F5BD74429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6BC8D3B-8B76-D8A5-82D5-965A0FAA1A91}"/>
              </a:ext>
            </a:extLst>
          </p:cNvPr>
          <p:cNvSpPr>
            <a:spLocks noGrp="1"/>
          </p:cNvSpPr>
          <p:nvPr>
            <p:ph type="dt" sz="half" idx="10"/>
          </p:nvPr>
        </p:nvSpPr>
        <p:spPr/>
        <p:txBody>
          <a:bodyPr/>
          <a:lstStyle/>
          <a:p>
            <a:fld id="{3F308CF6-71EE-4634-B39E-3ED9F79FB31F}" type="datetimeFigureOut">
              <a:rPr lang="es-CO" smtClean="0"/>
              <a:t>18/11/2025</a:t>
            </a:fld>
            <a:endParaRPr lang="es-CO"/>
          </a:p>
        </p:txBody>
      </p:sp>
      <p:sp>
        <p:nvSpPr>
          <p:cNvPr id="5" name="Marcador de pie de página 4">
            <a:extLst>
              <a:ext uri="{FF2B5EF4-FFF2-40B4-BE49-F238E27FC236}">
                <a16:creationId xmlns:a16="http://schemas.microsoft.com/office/drawing/2014/main" id="{DF970863-E340-10C6-AF80-AA9A905FA6F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94D30F5-22C6-6414-E00E-BE31ECDE4E14}"/>
              </a:ext>
            </a:extLst>
          </p:cNvPr>
          <p:cNvSpPr>
            <a:spLocks noGrp="1"/>
          </p:cNvSpPr>
          <p:nvPr>
            <p:ph type="sldNum" sz="quarter" idx="12"/>
          </p:nvPr>
        </p:nvSpPr>
        <p:spPr/>
        <p:txBody>
          <a:bodyPr/>
          <a:lstStyle/>
          <a:p>
            <a:fld id="{C64ABE24-A68A-4D73-A0C4-E8FB0D081592}" type="slidenum">
              <a:rPr lang="es-CO" smtClean="0"/>
              <a:t>‹Nº›</a:t>
            </a:fld>
            <a:endParaRPr lang="es-CO"/>
          </a:p>
        </p:txBody>
      </p:sp>
    </p:spTree>
    <p:extLst>
      <p:ext uri="{BB962C8B-B14F-4D97-AF65-F5344CB8AC3E}">
        <p14:creationId xmlns:p14="http://schemas.microsoft.com/office/powerpoint/2010/main" val="1657633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EBC68AA-60F8-5290-1C2E-547A2900AD4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E3786DAC-1DFB-8AD4-2BF1-F8DC401CDDE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93B79C2-176B-47C1-1EF3-C397B00EAEFC}"/>
              </a:ext>
            </a:extLst>
          </p:cNvPr>
          <p:cNvSpPr>
            <a:spLocks noGrp="1"/>
          </p:cNvSpPr>
          <p:nvPr>
            <p:ph type="dt" sz="half" idx="10"/>
          </p:nvPr>
        </p:nvSpPr>
        <p:spPr/>
        <p:txBody>
          <a:bodyPr/>
          <a:lstStyle/>
          <a:p>
            <a:fld id="{3F308CF6-71EE-4634-B39E-3ED9F79FB31F}" type="datetimeFigureOut">
              <a:rPr lang="es-CO" smtClean="0"/>
              <a:t>18/11/2025</a:t>
            </a:fld>
            <a:endParaRPr lang="es-CO"/>
          </a:p>
        </p:txBody>
      </p:sp>
      <p:sp>
        <p:nvSpPr>
          <p:cNvPr id="5" name="Marcador de pie de página 4">
            <a:extLst>
              <a:ext uri="{FF2B5EF4-FFF2-40B4-BE49-F238E27FC236}">
                <a16:creationId xmlns:a16="http://schemas.microsoft.com/office/drawing/2014/main" id="{3A6E0115-6D2B-B5A6-874F-8329CB6D295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A18D265-9CE2-D809-4D26-DCBAE8378C5D}"/>
              </a:ext>
            </a:extLst>
          </p:cNvPr>
          <p:cNvSpPr>
            <a:spLocks noGrp="1"/>
          </p:cNvSpPr>
          <p:nvPr>
            <p:ph type="sldNum" sz="quarter" idx="12"/>
          </p:nvPr>
        </p:nvSpPr>
        <p:spPr/>
        <p:txBody>
          <a:bodyPr/>
          <a:lstStyle/>
          <a:p>
            <a:fld id="{C64ABE24-A68A-4D73-A0C4-E8FB0D081592}" type="slidenum">
              <a:rPr lang="es-CO" smtClean="0"/>
              <a:t>‹Nº›</a:t>
            </a:fld>
            <a:endParaRPr lang="es-CO"/>
          </a:p>
        </p:txBody>
      </p:sp>
    </p:spTree>
    <p:extLst>
      <p:ext uri="{BB962C8B-B14F-4D97-AF65-F5344CB8AC3E}">
        <p14:creationId xmlns:p14="http://schemas.microsoft.com/office/powerpoint/2010/main" val="2091451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FDF817C-2F93-C76A-59E6-4922C07E29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C2DA4CB4-3DA9-73CB-604E-375D385F0A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7C54FE4-2237-7BA1-BBB7-BF70DE8AB3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308CF6-71EE-4634-B39E-3ED9F79FB31F}" type="datetimeFigureOut">
              <a:rPr lang="es-CO" smtClean="0"/>
              <a:t>18/11/2025</a:t>
            </a:fld>
            <a:endParaRPr lang="es-CO"/>
          </a:p>
        </p:txBody>
      </p:sp>
      <p:sp>
        <p:nvSpPr>
          <p:cNvPr id="5" name="Marcador de pie de página 4">
            <a:extLst>
              <a:ext uri="{FF2B5EF4-FFF2-40B4-BE49-F238E27FC236}">
                <a16:creationId xmlns:a16="http://schemas.microsoft.com/office/drawing/2014/main" id="{050AA6A4-28DA-9DD5-EF6A-BE84486F3E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DD590E1B-6D4E-B04D-FD10-142D2BD2B6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4ABE24-A68A-4D73-A0C4-E8FB0D081592}" type="slidenum">
              <a:rPr lang="es-CO" smtClean="0"/>
              <a:t>‹Nº›</a:t>
            </a:fld>
            <a:endParaRPr lang="es-CO"/>
          </a:p>
        </p:txBody>
      </p:sp>
    </p:spTree>
    <p:extLst>
      <p:ext uri="{BB962C8B-B14F-4D97-AF65-F5344CB8AC3E}">
        <p14:creationId xmlns:p14="http://schemas.microsoft.com/office/powerpoint/2010/main" val="4237287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1.xml"/><Relationship Id="rId5" Type="http://schemas.openxmlformats.org/officeDocument/2006/relationships/image" Target="../media/image10.jpe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7.jpg"/><Relationship Id="rId1" Type="http://schemas.openxmlformats.org/officeDocument/2006/relationships/slideLayout" Target="../slideLayouts/slideLayout1.xml"/><Relationship Id="rId4" Type="http://schemas.openxmlformats.org/officeDocument/2006/relationships/image" Target="../media/image18.jpe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7.jp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7.jp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7.jpg"/><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jpg"/><Relationship Id="rId1" Type="http://schemas.openxmlformats.org/officeDocument/2006/relationships/slideLayout" Target="../slideLayouts/slideLayout1.xml"/><Relationship Id="rId5" Type="http://schemas.openxmlformats.org/officeDocument/2006/relationships/image" Target="../media/image35.jpeg"/><Relationship Id="rId4" Type="http://schemas.openxmlformats.org/officeDocument/2006/relationships/image" Target="../media/image34.jpeg"/></Relationships>
</file>

<file path=ppt/slides/_rels/slide2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jpg"/><Relationship Id="rId1" Type="http://schemas.openxmlformats.org/officeDocument/2006/relationships/slideLayout" Target="../slideLayouts/slideLayout1.xml"/><Relationship Id="rId5" Type="http://schemas.openxmlformats.org/officeDocument/2006/relationships/image" Target="../media/image38.jpeg"/><Relationship Id="rId4" Type="http://schemas.openxmlformats.org/officeDocument/2006/relationships/image" Target="../media/image37.jpeg"/></Relationships>
</file>

<file path=ppt/slides/_rels/slide22.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jpg"/><Relationship Id="rId1" Type="http://schemas.openxmlformats.org/officeDocument/2006/relationships/slideLayout" Target="../slideLayouts/slideLayout1.xml"/><Relationship Id="rId5" Type="http://schemas.openxmlformats.org/officeDocument/2006/relationships/image" Target="../media/image41.jpeg"/><Relationship Id="rId4" Type="http://schemas.openxmlformats.org/officeDocument/2006/relationships/image" Target="../media/image40.jpeg"/></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jpg"/><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7.jpg"/><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7.jpg"/><Relationship Id="rId1" Type="http://schemas.openxmlformats.org/officeDocument/2006/relationships/slideLayout" Target="../slideLayouts/slideLayout1.xml"/><Relationship Id="rId4" Type="http://schemas.openxmlformats.org/officeDocument/2006/relationships/image" Target="../media/image45.jpeg"/></Relationships>
</file>

<file path=ppt/slides/_rels/slide2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12.jpg"/><Relationship Id="rId1" Type="http://schemas.openxmlformats.org/officeDocument/2006/relationships/slideLayout" Target="../slideLayouts/slideLayout2.xml"/><Relationship Id="rId5" Type="http://schemas.openxmlformats.org/officeDocument/2006/relationships/image" Target="../media/image48.jpeg"/><Relationship Id="rId4" Type="http://schemas.openxmlformats.org/officeDocument/2006/relationships/image" Target="../media/image47.jpeg"/></Relationships>
</file>

<file path=ppt/slides/_rels/slide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3.jpg"/><Relationship Id="rId1" Type="http://schemas.openxmlformats.org/officeDocument/2006/relationships/slideLayout" Target="../slideLayouts/slideLayout1.xml"/><Relationship Id="rId5" Type="http://schemas.openxmlformats.org/officeDocument/2006/relationships/image" Target="../media/image51.jpeg"/><Relationship Id="rId4" Type="http://schemas.openxmlformats.org/officeDocument/2006/relationships/image" Target="../media/image50.jpeg"/></Relationships>
</file>

<file path=ppt/slides/_rels/slide3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8" Type="http://schemas.openxmlformats.org/officeDocument/2006/relationships/hyperlink" Target="https://es.khanacademy.org/math/multivariable-calculus/integrating-multivariable-functions/triple-integrals-topic/a/triple-integrals" TargetMode="External"/><Relationship Id="rId3" Type="http://schemas.openxmlformats.org/officeDocument/2006/relationships/hyperlink" Target="https://docs.arduino.cc/learn/starting-guide/the-arduino-software-ide/" TargetMode="External"/><Relationship Id="rId7" Type="http://schemas.openxmlformats.org/officeDocument/2006/relationships/hyperlink" Target="https://es.khanacademy.org/math/multivariable-calculus/integrating-multivariable-functions/double-integrals-a/a/double-integrals" TargetMode="External"/><Relationship Id="rId2" Type="http://schemas.openxmlformats.org/officeDocument/2006/relationships/image" Target="../media/image12.jpg"/><Relationship Id="rId1" Type="http://schemas.openxmlformats.org/officeDocument/2006/relationships/slideLayout" Target="../slideLayouts/slideLayout2.xml"/><Relationship Id="rId6" Type="http://schemas.openxmlformats.org/officeDocument/2006/relationships/hyperlink" Target="https://link.springer.com/article/10.1007/s10444-011-9187-2" TargetMode="External"/><Relationship Id="rId5" Type="http://schemas.openxmlformats.org/officeDocument/2006/relationships/hyperlink" Target="https://www.geeksforgeeks.org/maths/spherical-cap-volume-formula/" TargetMode="External"/><Relationship Id="rId4" Type="http://schemas.openxmlformats.org/officeDocument/2006/relationships/hyperlink" Target="https://aws.amazon.com/es/what-is/ajax/"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developer.mozilla.org/es/docs/Learn_web_development/Getting_started/Your_first_website/Creating_the_content" TargetMode="External"/><Relationship Id="rId2" Type="http://schemas.openxmlformats.org/officeDocument/2006/relationships/image" Target="../media/image12.jpg"/><Relationship Id="rId1" Type="http://schemas.openxmlformats.org/officeDocument/2006/relationships/slideLayout" Target="../slideLayouts/slideLayout2.xml"/><Relationship Id="rId5" Type="http://schemas.openxmlformats.org/officeDocument/2006/relationships/hyperlink" Target="https://help.ubidots.com/es/articles/937072-construye-un-lector-de-volumen-de-tanque-por-menos-de-30-usando-esp32#requirements" TargetMode="External"/><Relationship Id="rId4" Type="http://schemas.openxmlformats.org/officeDocument/2006/relationships/hyperlink" Target="https://developer.mozilla.org/es/docs/Learn_web_development/Core/Scripting/What_is_JavaScript" TargetMode="External"/></Relationships>
</file>

<file path=ppt/slides/_rels/slide35.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0F70771-9B82-B2D6-3964-930FADC61FA8}"/>
              </a:ext>
            </a:extLst>
          </p:cNvPr>
          <p:cNvSpPr txBox="1"/>
          <p:nvPr/>
        </p:nvSpPr>
        <p:spPr>
          <a:xfrm>
            <a:off x="1974376" y="2861188"/>
            <a:ext cx="8243248" cy="3139321"/>
          </a:xfrm>
          <a:prstGeom prst="rect">
            <a:avLst/>
          </a:prstGeom>
          <a:noFill/>
        </p:spPr>
        <p:txBody>
          <a:bodyPr wrap="square" rtlCol="0">
            <a:spAutoFit/>
          </a:bodyPr>
          <a:lstStyle/>
          <a:p>
            <a:pPr algn="ctr"/>
            <a:r>
              <a:rPr lang="es-MX" sz="3600" b="1" noProof="0" dirty="0">
                <a:solidFill>
                  <a:schemeClr val="bg1"/>
                </a:solidFill>
                <a:latin typeface="Tahoma" panose="020B0604030504040204" pitchFamily="34" charset="0"/>
                <a:ea typeface="Tahoma" panose="020B0604030504040204" pitchFamily="34" charset="0"/>
                <a:cs typeface="Tahoma" panose="020B0604030504040204" pitchFamily="34" charset="0"/>
              </a:rPr>
              <a:t>Prototipo de Control y Medición en un Tanque Esférico</a:t>
            </a:r>
            <a:endParaRPr lang="es-CO" sz="1400" b="1"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algn="ctr"/>
            <a:endParaRPr lang="es-CO" sz="1400" b="1"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algn="ctr"/>
            <a:endParaRPr lang="es-CO" sz="1400" b="1"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algn="ctr"/>
            <a:r>
              <a:rPr lang="es-CO" sz="1400" b="1" noProof="0" dirty="0">
                <a:solidFill>
                  <a:schemeClr val="bg1"/>
                </a:solidFill>
                <a:latin typeface="Tahoma" panose="020B0604030504040204" pitchFamily="34" charset="0"/>
                <a:ea typeface="Tahoma" panose="020B0604030504040204" pitchFamily="34" charset="0"/>
                <a:cs typeface="Tahoma" panose="020B0604030504040204" pitchFamily="34" charset="0"/>
              </a:rPr>
              <a:t>Aristizábal Bossa William Alejandro</a:t>
            </a:r>
          </a:p>
          <a:p>
            <a:pPr algn="ctr"/>
            <a:endParaRPr lang="es-CO" sz="1400" b="1"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algn="ctr"/>
            <a:r>
              <a:rPr lang="es-CO" sz="1400" b="1" noProof="0" dirty="0">
                <a:solidFill>
                  <a:schemeClr val="bg1"/>
                </a:solidFill>
                <a:latin typeface="Tahoma" panose="020B0604030504040204" pitchFamily="34" charset="0"/>
                <a:ea typeface="Tahoma" panose="020B0604030504040204" pitchFamily="34" charset="0"/>
                <a:cs typeface="Tahoma" panose="020B0604030504040204" pitchFamily="34" charset="0"/>
              </a:rPr>
              <a:t>Maya Rosas </a:t>
            </a:r>
            <a:r>
              <a:rPr lang="es-CO" sz="1400" b="1" noProof="0" dirty="0" err="1">
                <a:solidFill>
                  <a:schemeClr val="bg1"/>
                </a:solidFill>
                <a:latin typeface="Tahoma" panose="020B0604030504040204" pitchFamily="34" charset="0"/>
                <a:ea typeface="Tahoma" panose="020B0604030504040204" pitchFamily="34" charset="0"/>
                <a:cs typeface="Tahoma" panose="020B0604030504040204" pitchFamily="34" charset="0"/>
              </a:rPr>
              <a:t>Jhon</a:t>
            </a:r>
            <a:r>
              <a:rPr lang="es-CO" sz="1400" b="1" noProof="0" dirty="0">
                <a:solidFill>
                  <a:schemeClr val="bg1"/>
                </a:solidFill>
                <a:latin typeface="Tahoma" panose="020B0604030504040204" pitchFamily="34" charset="0"/>
                <a:ea typeface="Tahoma" panose="020B0604030504040204" pitchFamily="34" charset="0"/>
                <a:cs typeface="Tahoma" panose="020B0604030504040204" pitchFamily="34" charset="0"/>
              </a:rPr>
              <a:t> Sebastián (898812)</a:t>
            </a:r>
          </a:p>
          <a:p>
            <a:pPr algn="ctr"/>
            <a:r>
              <a:rPr lang="es-CO" sz="1400" b="1" noProof="0" dirty="0">
                <a:solidFill>
                  <a:schemeClr val="bg1"/>
                </a:solidFill>
                <a:latin typeface="Tahoma" panose="020B0604030504040204" pitchFamily="34" charset="0"/>
                <a:ea typeface="Tahoma" panose="020B0604030504040204" pitchFamily="34" charset="0"/>
                <a:cs typeface="Tahoma" panose="020B0604030504040204" pitchFamily="34" charset="0"/>
              </a:rPr>
              <a:t>Useda Gonzalez Carlos Daniel (940736)</a:t>
            </a:r>
          </a:p>
          <a:p>
            <a:pPr algn="ctr"/>
            <a:r>
              <a:rPr lang="es-CO" sz="1400" b="1" noProof="0" dirty="0">
                <a:solidFill>
                  <a:schemeClr val="bg1"/>
                </a:solidFill>
                <a:latin typeface="Tahoma" panose="020B0604030504040204" pitchFamily="34" charset="0"/>
                <a:ea typeface="Tahoma" panose="020B0604030504040204" pitchFamily="34" charset="0"/>
                <a:cs typeface="Tahoma" panose="020B0604030504040204" pitchFamily="34" charset="0"/>
              </a:rPr>
              <a:t>Vega Porras </a:t>
            </a:r>
            <a:r>
              <a:rPr lang="es-CO" sz="1400" b="1" noProof="0" dirty="0" err="1">
                <a:solidFill>
                  <a:schemeClr val="bg1"/>
                </a:solidFill>
                <a:latin typeface="Tahoma" panose="020B0604030504040204" pitchFamily="34" charset="0"/>
                <a:ea typeface="Tahoma" panose="020B0604030504040204" pitchFamily="34" charset="0"/>
                <a:cs typeface="Tahoma" panose="020B0604030504040204" pitchFamily="34" charset="0"/>
              </a:rPr>
              <a:t>Kehint</a:t>
            </a:r>
            <a:r>
              <a:rPr lang="es-CO" sz="1400" b="1" noProof="0" dirty="0">
                <a:solidFill>
                  <a:schemeClr val="bg1"/>
                </a:solidFill>
                <a:latin typeface="Tahoma" panose="020B0604030504040204" pitchFamily="34" charset="0"/>
                <a:ea typeface="Tahoma" panose="020B0604030504040204" pitchFamily="34" charset="0"/>
                <a:cs typeface="Tahoma" panose="020B0604030504040204" pitchFamily="34" charset="0"/>
              </a:rPr>
              <a:t> David (912293)</a:t>
            </a:r>
          </a:p>
          <a:p>
            <a:pPr algn="ctr"/>
            <a:r>
              <a:rPr lang="es-CO" sz="1400" b="1" noProof="0" dirty="0">
                <a:solidFill>
                  <a:schemeClr val="bg1"/>
                </a:solidFill>
                <a:latin typeface="Tahoma" panose="020B0604030504040204" pitchFamily="34" charset="0"/>
                <a:ea typeface="Tahoma" panose="020B0604030504040204" pitchFamily="34" charset="0"/>
                <a:cs typeface="Tahoma" panose="020B0604030504040204" pitchFamily="34" charset="0"/>
              </a:rPr>
              <a:t>Nieto Bello Javier </a:t>
            </a:r>
            <a:r>
              <a:rPr lang="es-CO" sz="1400" b="1" noProof="0" dirty="0" err="1">
                <a:solidFill>
                  <a:schemeClr val="bg1"/>
                </a:solidFill>
                <a:latin typeface="Tahoma" panose="020B0604030504040204" pitchFamily="34" charset="0"/>
                <a:ea typeface="Tahoma" panose="020B0604030504040204" pitchFamily="34" charset="0"/>
                <a:cs typeface="Tahoma" panose="020B0604030504040204" pitchFamily="34" charset="0"/>
              </a:rPr>
              <a:t>Esneider</a:t>
            </a:r>
            <a:r>
              <a:rPr lang="es-CO" sz="1400" b="1" noProof="0" dirty="0">
                <a:solidFill>
                  <a:schemeClr val="bg1"/>
                </a:solidFill>
                <a:latin typeface="Tahoma" panose="020B0604030504040204" pitchFamily="34" charset="0"/>
                <a:ea typeface="Tahoma" panose="020B0604030504040204" pitchFamily="34" charset="0"/>
                <a:cs typeface="Tahoma" panose="020B0604030504040204" pitchFamily="34" charset="0"/>
              </a:rPr>
              <a:t> (872091)</a:t>
            </a:r>
          </a:p>
          <a:p>
            <a:pPr algn="ctr"/>
            <a:r>
              <a:rPr lang="es-CO" sz="1400" b="1" noProof="0" dirty="0">
                <a:solidFill>
                  <a:schemeClr val="bg1"/>
                </a:solidFill>
                <a:latin typeface="Tahoma" panose="020B0604030504040204" pitchFamily="34" charset="0"/>
                <a:ea typeface="Tahoma" panose="020B0604030504040204" pitchFamily="34" charset="0"/>
                <a:cs typeface="Tahoma" panose="020B0604030504040204" pitchFamily="34" charset="0"/>
              </a:rPr>
              <a:t>Cala Celis </a:t>
            </a:r>
            <a:r>
              <a:rPr lang="es-CO" sz="1400" b="1" noProof="0" dirty="0" err="1">
                <a:solidFill>
                  <a:schemeClr val="bg1"/>
                </a:solidFill>
                <a:latin typeface="Tahoma" panose="020B0604030504040204" pitchFamily="34" charset="0"/>
                <a:ea typeface="Tahoma" panose="020B0604030504040204" pitchFamily="34" charset="0"/>
                <a:cs typeface="Tahoma" panose="020B0604030504040204" pitchFamily="34" charset="0"/>
              </a:rPr>
              <a:t>Jhilmer</a:t>
            </a:r>
            <a:r>
              <a:rPr lang="es-CO" sz="1400" b="1" noProof="0">
                <a:solidFill>
                  <a:schemeClr val="bg1"/>
                </a:solidFill>
                <a:latin typeface="Tahoma" panose="020B0604030504040204" pitchFamily="34" charset="0"/>
                <a:ea typeface="Tahoma" panose="020B0604030504040204" pitchFamily="34" charset="0"/>
                <a:cs typeface="Tahoma" panose="020B0604030504040204" pitchFamily="34" charset="0"/>
              </a:rPr>
              <a:t> Alejandro (909336)</a:t>
            </a:r>
            <a:endParaRPr lang="es-CO" sz="1400" b="1"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87791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0F70771-9B82-B2D6-3964-930FADC61FA8}"/>
              </a:ext>
            </a:extLst>
          </p:cNvPr>
          <p:cNvSpPr txBox="1"/>
          <p:nvPr/>
        </p:nvSpPr>
        <p:spPr>
          <a:xfrm>
            <a:off x="1974374" y="2967335"/>
            <a:ext cx="8243248" cy="646331"/>
          </a:xfrm>
          <a:prstGeom prst="rect">
            <a:avLst/>
          </a:prstGeom>
          <a:noFill/>
        </p:spPr>
        <p:txBody>
          <a:bodyPr wrap="square" rtlCol="0">
            <a:spAutoFit/>
          </a:bodyPr>
          <a:lstStyle/>
          <a:p>
            <a:pPr algn="ctr"/>
            <a:r>
              <a:rPr lang="es-CO" sz="3600" b="1" noProof="0" dirty="0">
                <a:solidFill>
                  <a:schemeClr val="bg1"/>
                </a:solidFill>
                <a:latin typeface="Tahoma" panose="020B0604030504040204" pitchFamily="34" charset="0"/>
                <a:ea typeface="Tahoma" panose="020B0604030504040204" pitchFamily="34" charset="0"/>
                <a:cs typeface="Tahoma" panose="020B0604030504040204" pitchFamily="34" charset="0"/>
              </a:rPr>
              <a:t>Introducción</a:t>
            </a:r>
            <a:endParaRPr lang="es-CO" b="1"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075790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7931B3F4-1D7B-22B8-1E71-7EFBAB24FDFE}"/>
              </a:ext>
            </a:extLst>
          </p:cNvPr>
          <p:cNvSpPr txBox="1"/>
          <p:nvPr/>
        </p:nvSpPr>
        <p:spPr>
          <a:xfrm>
            <a:off x="312433" y="420517"/>
            <a:ext cx="8809081" cy="553998"/>
          </a:xfrm>
          <a:prstGeom prst="rect">
            <a:avLst/>
          </a:prstGeom>
          <a:noFill/>
        </p:spPr>
        <p:txBody>
          <a:bodyPr wrap="square" rtlCol="0">
            <a:spAutoFit/>
          </a:bodyPr>
          <a:lstStyle/>
          <a:p>
            <a:r>
              <a:rPr lang="es-CO" sz="3000" b="1" noProof="0" dirty="0">
                <a:solidFill>
                  <a:schemeClr val="bg1"/>
                </a:solidFill>
                <a:latin typeface="Tahoma" panose="020B0604030504040204" pitchFamily="34" charset="0"/>
                <a:ea typeface="Tahoma" panose="020B0604030504040204" pitchFamily="34" charset="0"/>
                <a:cs typeface="Tahoma" panose="020B0604030504040204" pitchFamily="34" charset="0"/>
              </a:rPr>
              <a:t>Introducción </a:t>
            </a:r>
          </a:p>
        </p:txBody>
      </p:sp>
      <p:sp>
        <p:nvSpPr>
          <p:cNvPr id="3" name="CuadroTexto 2">
            <a:extLst>
              <a:ext uri="{FF2B5EF4-FFF2-40B4-BE49-F238E27FC236}">
                <a16:creationId xmlns:a16="http://schemas.microsoft.com/office/drawing/2014/main" id="{621E7185-43E6-8E57-40DC-4E7081D75E14}"/>
              </a:ext>
            </a:extLst>
          </p:cNvPr>
          <p:cNvSpPr txBox="1"/>
          <p:nvPr/>
        </p:nvSpPr>
        <p:spPr>
          <a:xfrm>
            <a:off x="312433" y="1651799"/>
            <a:ext cx="6818303" cy="1477328"/>
          </a:xfrm>
          <a:prstGeom prst="rect">
            <a:avLst/>
          </a:prstGeom>
          <a:noFill/>
        </p:spPr>
        <p:txBody>
          <a:bodyPr wrap="square" rtlCol="0">
            <a:spAutoFit/>
          </a:bodyPr>
          <a:lstStyle/>
          <a:p>
            <a:r>
              <a:rPr lang="es-MX" sz="1800" dirty="0">
                <a:effectLst/>
                <a:latin typeface="Tahoma" panose="020B0604030504040204" pitchFamily="34" charset="0"/>
                <a:ea typeface="Tahoma" panose="020B0604030504040204" pitchFamily="34" charset="0"/>
                <a:cs typeface="Tahoma" panose="020B0604030504040204" pitchFamily="34" charset="0"/>
              </a:rPr>
              <a:t>El uso de herramientas basadas en cálculo multivariado, como integrales triples y volúmenes de casquetes esféricos, permite determinar con mayor precisión la cantidad de agua almacenada en tanques elevados esféricos y mejorar su gestión.</a:t>
            </a:r>
            <a:br>
              <a:rPr lang="es-ES" sz="1800" dirty="0">
                <a:effectLst/>
                <a:latin typeface="Times New Roman" panose="02020603050405020304" pitchFamily="18" charset="0"/>
                <a:ea typeface="Aptos" panose="020B0004020202020204"/>
              </a:rPr>
            </a:br>
            <a:endParaRPr lang="es-CO"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p:txBody>
      </p:sp>
      <p:pic>
        <p:nvPicPr>
          <p:cNvPr id="1026" name="Picture 2" descr="s1Eva_IT2017_T2 Tanque esférico-volumen – Métodos numéricos">
            <a:extLst>
              <a:ext uri="{FF2B5EF4-FFF2-40B4-BE49-F238E27FC236}">
                <a16:creationId xmlns:a16="http://schemas.microsoft.com/office/drawing/2014/main" id="{2DE5F737-19C7-45C2-B325-33A3F818E0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0921" y="4088107"/>
            <a:ext cx="2781300" cy="252412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Tanques de almacenamiento de acero.">
            <a:extLst>
              <a:ext uri="{FF2B5EF4-FFF2-40B4-BE49-F238E27FC236}">
                <a16:creationId xmlns:a16="http://schemas.microsoft.com/office/drawing/2014/main" id="{926D4A48-9034-4EA0-ABEC-015BDD4DC6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6780" y="1651799"/>
            <a:ext cx="4278468" cy="4652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0003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64AF65A1-2631-DAD3-B7FD-60255DACEB2F}"/>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6EDFC435-7C27-38B3-A81D-31BF1E368C82}"/>
              </a:ext>
            </a:extLst>
          </p:cNvPr>
          <p:cNvSpPr txBox="1"/>
          <p:nvPr/>
        </p:nvSpPr>
        <p:spPr>
          <a:xfrm>
            <a:off x="1974374" y="2967335"/>
            <a:ext cx="8243248" cy="646331"/>
          </a:xfrm>
          <a:prstGeom prst="rect">
            <a:avLst/>
          </a:prstGeom>
          <a:noFill/>
        </p:spPr>
        <p:txBody>
          <a:bodyPr wrap="square" rtlCol="0">
            <a:spAutoFit/>
          </a:bodyPr>
          <a:lstStyle/>
          <a:p>
            <a:pPr algn="ctr"/>
            <a:r>
              <a:rPr lang="es-CO" sz="3600" b="1" noProof="0" dirty="0">
                <a:solidFill>
                  <a:schemeClr val="bg1"/>
                </a:solidFill>
                <a:latin typeface="Tahoma" panose="020B0604030504040204" pitchFamily="34" charset="0"/>
                <a:ea typeface="Tahoma" panose="020B0604030504040204" pitchFamily="34" charset="0"/>
                <a:cs typeface="Tahoma" panose="020B0604030504040204" pitchFamily="34" charset="0"/>
              </a:rPr>
              <a:t>Planteamiento del Problema </a:t>
            </a:r>
          </a:p>
        </p:txBody>
      </p:sp>
    </p:spTree>
    <p:extLst>
      <p:ext uri="{BB962C8B-B14F-4D97-AF65-F5344CB8AC3E}">
        <p14:creationId xmlns:p14="http://schemas.microsoft.com/office/powerpoint/2010/main" val="3305121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7931B3F4-1D7B-22B8-1E71-7EFBAB24FDFE}"/>
              </a:ext>
            </a:extLst>
          </p:cNvPr>
          <p:cNvSpPr txBox="1"/>
          <p:nvPr/>
        </p:nvSpPr>
        <p:spPr>
          <a:xfrm>
            <a:off x="312433" y="420517"/>
            <a:ext cx="8809081" cy="553998"/>
          </a:xfrm>
          <a:prstGeom prst="rect">
            <a:avLst/>
          </a:prstGeom>
          <a:noFill/>
        </p:spPr>
        <p:txBody>
          <a:bodyPr wrap="square" rtlCol="0">
            <a:spAutoFit/>
          </a:bodyPr>
          <a:lstStyle/>
          <a:p>
            <a:r>
              <a:rPr lang="es-CO" sz="3000" b="1" noProof="0" dirty="0">
                <a:solidFill>
                  <a:schemeClr val="bg1"/>
                </a:solidFill>
                <a:latin typeface="Tahoma" panose="020B0604030504040204" pitchFamily="34" charset="0"/>
                <a:ea typeface="Tahoma" panose="020B0604030504040204" pitchFamily="34" charset="0"/>
                <a:cs typeface="Tahoma" panose="020B0604030504040204" pitchFamily="34" charset="0"/>
              </a:rPr>
              <a:t>Planteamiento del Problema</a:t>
            </a:r>
          </a:p>
        </p:txBody>
      </p:sp>
      <p:sp>
        <p:nvSpPr>
          <p:cNvPr id="3" name="CuadroTexto 2">
            <a:extLst>
              <a:ext uri="{FF2B5EF4-FFF2-40B4-BE49-F238E27FC236}">
                <a16:creationId xmlns:a16="http://schemas.microsoft.com/office/drawing/2014/main" id="{E739DEC5-94AE-627C-82DF-7D3EEF80F8C2}"/>
              </a:ext>
            </a:extLst>
          </p:cNvPr>
          <p:cNvSpPr txBox="1"/>
          <p:nvPr/>
        </p:nvSpPr>
        <p:spPr>
          <a:xfrm>
            <a:off x="431583" y="1601136"/>
            <a:ext cx="8689932" cy="1477328"/>
          </a:xfrm>
          <a:prstGeom prst="rect">
            <a:avLst/>
          </a:prstGeom>
          <a:noFill/>
        </p:spPr>
        <p:txBody>
          <a:bodyPr wrap="square" rtlCol="0">
            <a:spAutoFit/>
          </a:bodyPr>
          <a:lstStyle/>
          <a:p>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Esta solución aplica Cálculo Multivariado para calcular con precisión el agua disponible en un tanque, ofreciendo una herramienta útil para la gestión hídrica. Además, integra matemáticas, programación y sensores, brindando un aprendizaje práctico y una alternativa para mejorar el control del agua en comunidades que dependen de tanques de almacenamiento.</a:t>
            </a:r>
            <a:endParaRPr lang="es-CO"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2" descr="Calculadora del área y volumen del casquete esférico">
            <a:extLst>
              <a:ext uri="{FF2B5EF4-FFF2-40B4-BE49-F238E27FC236}">
                <a16:creationId xmlns:a16="http://schemas.microsoft.com/office/drawing/2014/main" id="{5AF64643-AB42-422E-83EE-3AA6826713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6970" y="3666067"/>
            <a:ext cx="2895600" cy="2133600"/>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234592C2-EE1D-45D9-A9D3-2E210DACAEB1}"/>
              </a:ext>
            </a:extLst>
          </p:cNvPr>
          <p:cNvPicPr>
            <a:picLocks noChangeAspect="1"/>
          </p:cNvPicPr>
          <p:nvPr/>
        </p:nvPicPr>
        <p:blipFill>
          <a:blip r:embed="rId4"/>
          <a:stretch>
            <a:fillRect/>
          </a:stretch>
        </p:blipFill>
        <p:spPr>
          <a:xfrm>
            <a:off x="7973007" y="3078464"/>
            <a:ext cx="3911600" cy="3250406"/>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pic>
        <p:nvPicPr>
          <p:cNvPr id="9" name="Picture 4" descr="Sensor Ultrasónico - Medición de Proximidad de 1,7 a 40">
            <a:extLst>
              <a:ext uri="{FF2B5EF4-FFF2-40B4-BE49-F238E27FC236}">
                <a16:creationId xmlns:a16="http://schemas.microsoft.com/office/drawing/2014/main" id="{06810120-253F-4511-89A0-E6D4F164DFE1}"/>
              </a:ext>
            </a:extLst>
          </p:cNvPr>
          <p:cNvPicPr>
            <a:picLocks noChangeAspect="1" noChangeArrowheads="1"/>
          </p:cNvPicPr>
          <p:nvPr/>
        </p:nvPicPr>
        <p:blipFill>
          <a:blip r:embed="rId5" cstate="screen">
            <a:extLst>
              <a:ext uri="{28A0092B-C50C-407E-A947-70E740481C1C}">
                <a14:useLocalDpi xmlns:a14="http://schemas.microsoft.com/office/drawing/2010/main" val="0"/>
              </a:ext>
            </a:extLst>
          </a:blip>
          <a:srcRect/>
          <a:stretch>
            <a:fillRect/>
          </a:stretch>
        </p:blipFill>
        <p:spPr bwMode="auto">
          <a:xfrm>
            <a:off x="4415451" y="3369734"/>
            <a:ext cx="2726267" cy="2726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1406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0F70771-9B82-B2D6-3964-930FADC61FA8}"/>
              </a:ext>
            </a:extLst>
          </p:cNvPr>
          <p:cNvSpPr txBox="1"/>
          <p:nvPr/>
        </p:nvSpPr>
        <p:spPr>
          <a:xfrm>
            <a:off x="1974374" y="2967335"/>
            <a:ext cx="8243248" cy="646331"/>
          </a:xfrm>
          <a:prstGeom prst="rect">
            <a:avLst/>
          </a:prstGeom>
          <a:noFill/>
        </p:spPr>
        <p:txBody>
          <a:bodyPr wrap="square" rtlCol="0">
            <a:spAutoFit/>
          </a:bodyPr>
          <a:lstStyle/>
          <a:p>
            <a:pPr algn="ctr"/>
            <a:r>
              <a:rPr lang="es-CO" sz="3600" b="1" noProof="0" dirty="0">
                <a:solidFill>
                  <a:schemeClr val="bg1"/>
                </a:solidFill>
                <a:latin typeface="Tahoma" panose="020B0604030504040204" pitchFamily="34" charset="0"/>
                <a:ea typeface="Tahoma" panose="020B0604030504040204" pitchFamily="34" charset="0"/>
                <a:cs typeface="Tahoma" panose="020B0604030504040204" pitchFamily="34" charset="0"/>
              </a:rPr>
              <a:t>Justificación</a:t>
            </a:r>
          </a:p>
        </p:txBody>
      </p:sp>
    </p:spTree>
    <p:extLst>
      <p:ext uri="{BB962C8B-B14F-4D97-AF65-F5344CB8AC3E}">
        <p14:creationId xmlns:p14="http://schemas.microsoft.com/office/powerpoint/2010/main" val="3219058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04CFB2C-5ED5-4CAE-3783-C3ED5B7E2E2A}"/>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EF14C8C4-076F-8B83-F768-DE3107BA3F12}"/>
              </a:ext>
            </a:extLst>
          </p:cNvPr>
          <p:cNvSpPr txBox="1"/>
          <p:nvPr/>
        </p:nvSpPr>
        <p:spPr>
          <a:xfrm>
            <a:off x="312433" y="420517"/>
            <a:ext cx="8809081" cy="553998"/>
          </a:xfrm>
          <a:prstGeom prst="rect">
            <a:avLst/>
          </a:prstGeom>
          <a:noFill/>
        </p:spPr>
        <p:txBody>
          <a:bodyPr wrap="square" rtlCol="0">
            <a:spAutoFit/>
          </a:bodyPr>
          <a:lstStyle/>
          <a:p>
            <a:r>
              <a:rPr lang="es-CO" sz="3000" b="1" noProof="0" dirty="0">
                <a:solidFill>
                  <a:schemeClr val="bg1"/>
                </a:solidFill>
                <a:latin typeface="Tahoma" panose="020B0604030504040204" pitchFamily="34" charset="0"/>
                <a:ea typeface="Tahoma" panose="020B0604030504040204" pitchFamily="34" charset="0"/>
                <a:cs typeface="Tahoma" panose="020B0604030504040204" pitchFamily="34" charset="0"/>
              </a:rPr>
              <a:t>Justificación</a:t>
            </a:r>
          </a:p>
        </p:txBody>
      </p:sp>
      <p:sp>
        <p:nvSpPr>
          <p:cNvPr id="5" name="CuadroTexto 4">
            <a:extLst>
              <a:ext uri="{FF2B5EF4-FFF2-40B4-BE49-F238E27FC236}">
                <a16:creationId xmlns:a16="http://schemas.microsoft.com/office/drawing/2014/main" id="{86591E42-A9A1-36FD-605D-53609B602ADA}"/>
              </a:ext>
            </a:extLst>
          </p:cNvPr>
          <p:cNvSpPr txBox="1"/>
          <p:nvPr/>
        </p:nvSpPr>
        <p:spPr>
          <a:xfrm>
            <a:off x="312432" y="1323650"/>
            <a:ext cx="6553881" cy="1477328"/>
          </a:xfrm>
          <a:prstGeom prst="rect">
            <a:avLst/>
          </a:prstGeom>
          <a:noFill/>
        </p:spPr>
        <p:txBody>
          <a:bodyPr wrap="square" rtlCol="0">
            <a:spAutoFit/>
          </a:bodyPr>
          <a:lstStyle/>
          <a:p>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Esta solución aplicara conceptos de Cálculo Multivariado para calcular con precisión la cantidad disponible que habrá en el tanque esférico</a:t>
            </a:r>
            <a:r>
              <a:rPr lang="es-MX"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se emplearon matemáticas, programación y electrónica para poder lograr la medición con exactitud.</a:t>
            </a:r>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endParaRPr lang="es-CO"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p:txBody>
      </p:sp>
      <p:pic>
        <p:nvPicPr>
          <p:cNvPr id="3" name="Picture 2" descr="Huella Hídrica y Huella de Agua – Zirkel">
            <a:extLst>
              <a:ext uri="{FF2B5EF4-FFF2-40B4-BE49-F238E27FC236}">
                <a16:creationId xmlns:a16="http://schemas.microsoft.com/office/drawing/2014/main" id="{E7F466CD-A588-42FF-A56B-0A3959CEEB9E}"/>
              </a:ext>
            </a:extLst>
          </p:cNvPr>
          <p:cNvPicPr>
            <a:picLocks noChangeAspect="1" noChangeArrowheads="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7411663" y="1478422"/>
            <a:ext cx="4161923" cy="277547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Sensor Ultrasonido Hc-sr04 - Fabricación e insumos de electrónica">
            <a:extLst>
              <a:ext uri="{FF2B5EF4-FFF2-40B4-BE49-F238E27FC236}">
                <a16:creationId xmlns:a16="http://schemas.microsoft.com/office/drawing/2014/main" id="{26B8681A-D238-4EF9-AAE4-04D7798452EB}"/>
              </a:ext>
            </a:extLst>
          </p:cNvPr>
          <p:cNvPicPr>
            <a:picLocks noChangeAspect="1" noChangeArrowheads="1"/>
          </p:cNvPicPr>
          <p:nvPr/>
        </p:nvPicPr>
        <p:blipFill>
          <a:blip r:embed="rId4" cstate="screen">
            <a:extLst>
              <a:ext uri="{28A0092B-C50C-407E-A947-70E740481C1C}">
                <a14:useLocalDpi xmlns:a14="http://schemas.microsoft.com/office/drawing/2010/main" val="0"/>
              </a:ext>
            </a:extLst>
          </a:blip>
          <a:srcRect/>
          <a:stretch>
            <a:fillRect/>
          </a:stretch>
        </p:blipFill>
        <p:spPr bwMode="auto">
          <a:xfrm>
            <a:off x="2211900" y="3981109"/>
            <a:ext cx="3381975" cy="25364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6813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E681C31-8EC9-CEFA-F965-96BB6F120209}"/>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BD6E8C5C-FC4D-810A-EBA7-FDFEA6C49447}"/>
              </a:ext>
            </a:extLst>
          </p:cNvPr>
          <p:cNvSpPr txBox="1"/>
          <p:nvPr/>
        </p:nvSpPr>
        <p:spPr>
          <a:xfrm>
            <a:off x="1974374" y="2967335"/>
            <a:ext cx="8243248" cy="923330"/>
          </a:xfrm>
          <a:prstGeom prst="rect">
            <a:avLst/>
          </a:prstGeom>
          <a:noFill/>
        </p:spPr>
        <p:txBody>
          <a:bodyPr wrap="square" rtlCol="0">
            <a:spAutoFit/>
          </a:bodyPr>
          <a:lstStyle/>
          <a:p>
            <a:pPr algn="ctr"/>
            <a:r>
              <a:rPr lang="es-CO" sz="3600" b="1" noProof="0" dirty="0">
                <a:solidFill>
                  <a:schemeClr val="bg1"/>
                </a:solidFill>
                <a:latin typeface="Tahoma" panose="020B0604030504040204" pitchFamily="34" charset="0"/>
                <a:ea typeface="Tahoma" panose="020B0604030504040204" pitchFamily="34" charset="0"/>
                <a:cs typeface="Tahoma" panose="020B0604030504040204" pitchFamily="34" charset="0"/>
              </a:rPr>
              <a:t>Objetivos  </a:t>
            </a:r>
          </a:p>
          <a:p>
            <a:pPr algn="ctr"/>
            <a:endParaRPr lang="es-CO" b="1"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0690626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55990CC-918C-7FE2-68A5-6CB14074817E}"/>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171D81EC-D245-E684-3AD5-C948D8BC1C38}"/>
              </a:ext>
            </a:extLst>
          </p:cNvPr>
          <p:cNvSpPr txBox="1"/>
          <p:nvPr/>
        </p:nvSpPr>
        <p:spPr>
          <a:xfrm>
            <a:off x="312433" y="420517"/>
            <a:ext cx="8809081" cy="553998"/>
          </a:xfrm>
          <a:prstGeom prst="rect">
            <a:avLst/>
          </a:prstGeom>
          <a:noFill/>
        </p:spPr>
        <p:txBody>
          <a:bodyPr wrap="square" rtlCol="0">
            <a:spAutoFit/>
          </a:bodyPr>
          <a:lstStyle/>
          <a:p>
            <a:r>
              <a:rPr lang="es-CO" sz="3000" b="1" noProof="0" dirty="0">
                <a:solidFill>
                  <a:schemeClr val="bg1"/>
                </a:solidFill>
                <a:latin typeface="Tahoma" panose="020B0604030504040204" pitchFamily="34" charset="0"/>
                <a:ea typeface="Tahoma" panose="020B0604030504040204" pitchFamily="34" charset="0"/>
                <a:cs typeface="Tahoma" panose="020B0604030504040204" pitchFamily="34" charset="0"/>
              </a:rPr>
              <a:t>Objetivo General</a:t>
            </a:r>
          </a:p>
        </p:txBody>
      </p:sp>
      <p:sp>
        <p:nvSpPr>
          <p:cNvPr id="3" name="CuadroTexto 2">
            <a:extLst>
              <a:ext uri="{FF2B5EF4-FFF2-40B4-BE49-F238E27FC236}">
                <a16:creationId xmlns:a16="http://schemas.microsoft.com/office/drawing/2014/main" id="{30519EAB-9505-4EA4-E65A-5C313D990DCF}"/>
              </a:ext>
            </a:extLst>
          </p:cNvPr>
          <p:cNvSpPr txBox="1"/>
          <p:nvPr/>
        </p:nvSpPr>
        <p:spPr>
          <a:xfrm>
            <a:off x="312433" y="1551261"/>
            <a:ext cx="10211480" cy="1477328"/>
          </a:xfrm>
          <a:prstGeom prst="rect">
            <a:avLst/>
          </a:prstGeom>
          <a:noFill/>
        </p:spPr>
        <p:txBody>
          <a:bodyPr wrap="square" rtlCol="0">
            <a:spAutoFit/>
          </a:bodyPr>
          <a:lstStyle/>
          <a:p>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Determinar con precisión la relación entre el volumen y la altura del agua en un tanque esférico de almacenamiento, aplicando integrales triples y métodos numéricos del Cálculo Multivariado, implementando un prototipo de medición con sensor ultrasónico HC-SR04, módulo ESP32 y pantalla LCD que permita monitorear el nivel del agua y validar experimentalmente los resultados teóricos.</a:t>
            </a:r>
            <a:endParaRPr lang="es-CO"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p:txBody>
      </p:sp>
      <p:pic>
        <p:nvPicPr>
          <p:cNvPr id="4102" name="Picture 6" descr="ESP32 - Ultrasonic Sensor - LCD | ESP32 Tutorial">
            <a:extLst>
              <a:ext uri="{FF2B5EF4-FFF2-40B4-BE49-F238E27FC236}">
                <a16:creationId xmlns:a16="http://schemas.microsoft.com/office/drawing/2014/main" id="{F723A295-88F5-4EE4-8065-4C96C2F3CADA}"/>
              </a:ext>
            </a:extLst>
          </p:cNvPr>
          <p:cNvPicPr>
            <a:picLocks noChangeAspect="1" noChangeArrowheads="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324760" y="3217998"/>
            <a:ext cx="5771240" cy="3133603"/>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Volumen entre esfera y plano con integral triple | COORDENADAS ESFÉRICAS |  GEOGEBRA">
            <a:extLst>
              <a:ext uri="{FF2B5EF4-FFF2-40B4-BE49-F238E27FC236}">
                <a16:creationId xmlns:a16="http://schemas.microsoft.com/office/drawing/2014/main" id="{EFE54A27-A929-4428-A526-26485303C183}"/>
              </a:ext>
            </a:extLst>
          </p:cNvPr>
          <p:cNvPicPr>
            <a:picLocks noChangeAspect="1" noChangeArrowheads="1"/>
          </p:cNvPicPr>
          <p:nvPr/>
        </p:nvPicPr>
        <p:blipFill rotWithShape="1">
          <a:blip r:embed="rId4" cstate="screen">
            <a:extLst>
              <a:ext uri="{28A0092B-C50C-407E-A947-70E740481C1C}">
                <a14:useLocalDpi xmlns:a14="http://schemas.microsoft.com/office/drawing/2010/main" val="0"/>
              </a:ext>
            </a:extLst>
          </a:blip>
          <a:srcRect/>
          <a:stretch/>
        </p:blipFill>
        <p:spPr bwMode="auto">
          <a:xfrm>
            <a:off x="6615493" y="3310663"/>
            <a:ext cx="5122333" cy="2893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0481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5C3571C7-6D47-8BAB-F388-D8FC1D488997}"/>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7D897DE6-CF8C-DAC7-1733-7E51AC2BB618}"/>
              </a:ext>
            </a:extLst>
          </p:cNvPr>
          <p:cNvSpPr txBox="1"/>
          <p:nvPr/>
        </p:nvSpPr>
        <p:spPr>
          <a:xfrm>
            <a:off x="312433" y="420517"/>
            <a:ext cx="8809081" cy="553998"/>
          </a:xfrm>
          <a:prstGeom prst="rect">
            <a:avLst/>
          </a:prstGeom>
          <a:noFill/>
        </p:spPr>
        <p:txBody>
          <a:bodyPr wrap="square" rtlCol="0">
            <a:spAutoFit/>
          </a:bodyPr>
          <a:lstStyle/>
          <a:p>
            <a:r>
              <a:rPr lang="es-CO" sz="3000" b="1" noProof="0" dirty="0">
                <a:solidFill>
                  <a:schemeClr val="bg1"/>
                </a:solidFill>
                <a:latin typeface="Tahoma" panose="020B0604030504040204" pitchFamily="34" charset="0"/>
                <a:ea typeface="Tahoma" panose="020B0604030504040204" pitchFamily="34" charset="0"/>
                <a:cs typeface="Tahoma" panose="020B0604030504040204" pitchFamily="34" charset="0"/>
              </a:rPr>
              <a:t>Objetivos Específicos</a:t>
            </a:r>
          </a:p>
        </p:txBody>
      </p:sp>
      <p:sp>
        <p:nvSpPr>
          <p:cNvPr id="3" name="CuadroTexto 2">
            <a:extLst>
              <a:ext uri="{FF2B5EF4-FFF2-40B4-BE49-F238E27FC236}">
                <a16:creationId xmlns:a16="http://schemas.microsoft.com/office/drawing/2014/main" id="{602020D9-16F0-4F9A-FE77-C1AD95290363}"/>
              </a:ext>
            </a:extLst>
          </p:cNvPr>
          <p:cNvSpPr txBox="1"/>
          <p:nvPr/>
        </p:nvSpPr>
        <p:spPr>
          <a:xfrm>
            <a:off x="419376" y="1510944"/>
            <a:ext cx="11353248" cy="2031325"/>
          </a:xfrm>
          <a:prstGeom prst="rect">
            <a:avLst/>
          </a:prstGeom>
          <a:noFill/>
        </p:spPr>
        <p:txBody>
          <a:bodyPr wrap="square" rtlCol="0">
            <a:spAutoFit/>
          </a:bodyPr>
          <a:lstStyle/>
          <a:p>
            <a:pPr marL="285750" indent="-285750">
              <a:buFont typeface="Arial" panose="020B0604020202020204" pitchFamily="34" charset="0"/>
              <a:buChar char="•"/>
            </a:pP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Deducir el volumen de una esfera mediante integrales triples y obtener la fórmula del volumen del casquete esférico.</a:t>
            </a:r>
            <a:b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br>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pPr marL="285750" indent="-285750">
              <a:buFont typeface="Arial" panose="020B0604020202020204" pitchFamily="34" charset="0"/>
              <a:buChar char="•"/>
            </a:pP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Diseñar y ensamblar un prototipo con sensor ultrasónico HC-SR04, un ESP32 y mostrar datos en una pantalla LCD.</a:t>
            </a:r>
            <a:b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br>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pPr marL="285750" indent="-285750">
              <a:buFont typeface="Arial" panose="020B0604020202020204" pitchFamily="34" charset="0"/>
              <a:buChar char="•"/>
            </a:pP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Comparar los resultados teóricos y numéricos con las mediciones experimentales.</a:t>
            </a:r>
          </a:p>
        </p:txBody>
      </p:sp>
    </p:spTree>
    <p:extLst>
      <p:ext uri="{BB962C8B-B14F-4D97-AF65-F5344CB8AC3E}">
        <p14:creationId xmlns:p14="http://schemas.microsoft.com/office/powerpoint/2010/main" val="168516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0F70771-9B82-B2D6-3964-930FADC61FA8}"/>
              </a:ext>
            </a:extLst>
          </p:cNvPr>
          <p:cNvSpPr txBox="1"/>
          <p:nvPr/>
        </p:nvSpPr>
        <p:spPr>
          <a:xfrm>
            <a:off x="1974376" y="2967335"/>
            <a:ext cx="8243248" cy="646331"/>
          </a:xfrm>
          <a:prstGeom prst="rect">
            <a:avLst/>
          </a:prstGeom>
          <a:noFill/>
        </p:spPr>
        <p:txBody>
          <a:bodyPr wrap="square" rtlCol="0">
            <a:spAutoFit/>
          </a:bodyPr>
          <a:lstStyle/>
          <a:p>
            <a:pPr algn="ctr"/>
            <a:r>
              <a:rPr lang="es-CO" sz="3600" b="1" noProof="0" dirty="0">
                <a:solidFill>
                  <a:schemeClr val="bg1"/>
                </a:solidFill>
                <a:latin typeface="Tahoma" panose="020B0604030504040204" pitchFamily="34" charset="0"/>
                <a:ea typeface="Tahoma" panose="020B0604030504040204" pitchFamily="34" charset="0"/>
                <a:cs typeface="Tahoma" panose="020B0604030504040204" pitchFamily="34" charset="0"/>
              </a:rPr>
              <a:t>Marco Referencial</a:t>
            </a:r>
          </a:p>
        </p:txBody>
      </p:sp>
    </p:spTree>
    <p:extLst>
      <p:ext uri="{BB962C8B-B14F-4D97-AF65-F5344CB8AC3E}">
        <p14:creationId xmlns:p14="http://schemas.microsoft.com/office/powerpoint/2010/main" val="1722783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9746242-EA58-6870-A21F-C25C1C2FCD66}"/>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9EB206C6-2219-6191-0278-0B86A2CB5837}"/>
              </a:ext>
            </a:extLst>
          </p:cNvPr>
          <p:cNvSpPr txBox="1"/>
          <p:nvPr/>
        </p:nvSpPr>
        <p:spPr>
          <a:xfrm>
            <a:off x="312433" y="420517"/>
            <a:ext cx="8809081" cy="553998"/>
          </a:xfrm>
          <a:prstGeom prst="rect">
            <a:avLst/>
          </a:prstGeom>
          <a:noFill/>
        </p:spPr>
        <p:txBody>
          <a:bodyPr wrap="square" rtlCol="0">
            <a:spAutoFit/>
          </a:bodyPr>
          <a:lstStyle/>
          <a:p>
            <a:r>
              <a:rPr lang="es-CO" sz="3000" b="1" noProof="0" dirty="0">
                <a:solidFill>
                  <a:schemeClr val="bg1"/>
                </a:solidFill>
                <a:latin typeface="Tahoma" panose="020B0604030504040204" pitchFamily="34" charset="0"/>
                <a:ea typeface="Tahoma" panose="020B0604030504040204" pitchFamily="34" charset="0"/>
                <a:cs typeface="Tahoma" panose="020B0604030504040204" pitchFamily="34" charset="0"/>
              </a:rPr>
              <a:t>Estado del Arte</a:t>
            </a:r>
          </a:p>
        </p:txBody>
      </p:sp>
      <p:sp>
        <p:nvSpPr>
          <p:cNvPr id="3" name="CuadroTexto 2">
            <a:extLst>
              <a:ext uri="{FF2B5EF4-FFF2-40B4-BE49-F238E27FC236}">
                <a16:creationId xmlns:a16="http://schemas.microsoft.com/office/drawing/2014/main" id="{174C6CBC-6116-04CA-6219-DAFD7992654C}"/>
              </a:ext>
            </a:extLst>
          </p:cNvPr>
          <p:cNvSpPr txBox="1"/>
          <p:nvPr/>
        </p:nvSpPr>
        <p:spPr>
          <a:xfrm>
            <a:off x="6151974" y="1986685"/>
            <a:ext cx="5939077" cy="3139321"/>
          </a:xfrm>
          <a:prstGeom prst="rect">
            <a:avLst/>
          </a:prstGeom>
          <a:noFill/>
        </p:spPr>
        <p:txBody>
          <a:bodyPr wrap="square" rtlCol="0">
            <a:spAutoFit/>
          </a:bodyPr>
          <a:lstStyle/>
          <a:p>
            <a:pPr marL="285750" indent="-285750">
              <a:buFont typeface="Arial" panose="020B0604020202020204" pitchFamily="34" charset="0"/>
              <a:buChar char="•"/>
            </a:pP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Numerical</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integration</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with</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polynomial</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exactness</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over</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a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spherical</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cap</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(Integración numérica con exactitud polinómica sobre un casquete esférico).</a:t>
            </a:r>
            <a:b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br>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pPr marL="285750" indent="-285750">
              <a:buFont typeface="Arial" panose="020B0604020202020204" pitchFamily="34" charset="0"/>
              <a:buChar char="•"/>
            </a:pP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Construye un lector de volumen de tanque por menos de $30 usando ESP32.</a:t>
            </a:r>
            <a:b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br>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pPr marL="285750" indent="-285750">
              <a:buFont typeface="Arial" panose="020B0604020202020204" pitchFamily="34" charset="0"/>
              <a:buChar char="•"/>
            </a:pP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Spherical</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Cap</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Volume</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Formula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with</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Solved</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Examples</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(Fórmula de volumen de tapa esférica con ejemplos resueltos).</a:t>
            </a:r>
            <a:endParaRPr lang="es-CO"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endParaRPr lang="es-CO"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2" descr="Volumen de un Casquete Esférico: método de los discos">
            <a:extLst>
              <a:ext uri="{FF2B5EF4-FFF2-40B4-BE49-F238E27FC236}">
                <a16:creationId xmlns:a16="http://schemas.microsoft.com/office/drawing/2014/main" id="{B21869EA-9B18-4A31-A2B1-A824F35D9E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3925" y="1351473"/>
            <a:ext cx="4418542" cy="248623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Medidor de nivel de agua de tanque con ESP32 y MQTT - YouTube">
            <a:extLst>
              <a:ext uri="{FF2B5EF4-FFF2-40B4-BE49-F238E27FC236}">
                <a16:creationId xmlns:a16="http://schemas.microsoft.com/office/drawing/2014/main" id="{4D153572-067D-47EC-90D8-E89ECB4FE0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3925" y="3951248"/>
            <a:ext cx="4418542" cy="24862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8600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6B426399-8FD0-0A68-5C71-76F50E5F2519}"/>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1A460438-9A04-170B-2486-C3469B6E5FCC}"/>
              </a:ext>
            </a:extLst>
          </p:cNvPr>
          <p:cNvSpPr txBox="1"/>
          <p:nvPr/>
        </p:nvSpPr>
        <p:spPr>
          <a:xfrm>
            <a:off x="312433" y="403892"/>
            <a:ext cx="8809081" cy="553998"/>
          </a:xfrm>
          <a:prstGeom prst="rect">
            <a:avLst/>
          </a:prstGeom>
          <a:noFill/>
        </p:spPr>
        <p:txBody>
          <a:bodyPr wrap="square" rtlCol="0">
            <a:spAutoFit/>
          </a:bodyPr>
          <a:lstStyle/>
          <a:p>
            <a:r>
              <a:rPr lang="es-CO" sz="3000" b="1" noProof="0" dirty="0">
                <a:solidFill>
                  <a:schemeClr val="bg1"/>
                </a:solidFill>
                <a:latin typeface="Tahoma" panose="020B0604030504040204" pitchFamily="34" charset="0"/>
                <a:ea typeface="Tahoma" panose="020B0604030504040204" pitchFamily="34" charset="0"/>
                <a:cs typeface="Tahoma" panose="020B0604030504040204" pitchFamily="34" charset="0"/>
              </a:rPr>
              <a:t>Marco Teórico</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A2BDCF85-B522-82D0-6C3E-1939736AEF71}"/>
                  </a:ext>
                </a:extLst>
              </p:cNvPr>
              <p:cNvSpPr txBox="1"/>
              <p:nvPr/>
            </p:nvSpPr>
            <p:spPr>
              <a:xfrm>
                <a:off x="312433" y="1489532"/>
                <a:ext cx="3391820" cy="1766702"/>
              </a:xfrm>
              <a:prstGeom prst="rect">
                <a:avLst/>
              </a:prstGeom>
              <a:noFill/>
            </p:spPr>
            <p:txBody>
              <a:bodyPr wrap="square">
                <a:spAutoFit/>
              </a:bodyPr>
              <a:lstStyle/>
              <a:p>
                <a:pPr/>
                <a:r>
                  <a:rPr lang="es-MX" b="1"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Integrales triples</a:t>
                </a:r>
                <a:b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br>
                <a:b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br>
                <a14:m>
                  <m:oMathPara xmlns:m="http://schemas.openxmlformats.org/officeDocument/2006/math">
                    <m:oMathParaPr>
                      <m:jc m:val="centerGroup"/>
                    </m:oMathParaPr>
                    <m:oMath xmlns:m="http://schemas.openxmlformats.org/officeDocument/2006/math">
                      <m:nary>
                        <m:naryPr>
                          <m:chr m:val="∭"/>
                          <m:limLoc m:val="subSup"/>
                          <m:supHide m:val="on"/>
                          <m:ctrlPr>
                            <a:rPr lang="es-CO" sz="1800" i="1" kern="100" smtClean="0">
                              <a:effectLst/>
                              <a:latin typeface="Cambria Math" panose="02040503050406030204" pitchFamily="18" charset="0"/>
                              <a:ea typeface="Aptos"/>
                              <a:cs typeface="Arial" panose="020B0604020202020204" pitchFamily="34" charset="0"/>
                            </a:rPr>
                          </m:ctrlPr>
                        </m:naryPr>
                        <m:sub>
                          <m:r>
                            <a:rPr lang="es-CO" sz="1800" i="1" kern="100">
                              <a:effectLst/>
                              <a:latin typeface="Cambria Math" panose="02040503050406030204" pitchFamily="18" charset="0"/>
                              <a:ea typeface="Aptos"/>
                              <a:cs typeface="Arial" panose="020B0604020202020204" pitchFamily="34" charset="0"/>
                            </a:rPr>
                            <m:t>𝑅</m:t>
                          </m:r>
                        </m:sub>
                        <m:sup/>
                        <m:e>
                          <m:r>
                            <a:rPr lang="es-CO" sz="1800" i="1" kern="100">
                              <a:effectLst/>
                              <a:latin typeface="Cambria Math" panose="02040503050406030204" pitchFamily="18" charset="0"/>
                              <a:ea typeface="Aptos"/>
                              <a:cs typeface="Arial" panose="020B0604020202020204" pitchFamily="34" charset="0"/>
                            </a:rPr>
                            <m:t>𝑓</m:t>
                          </m:r>
                          <m:r>
                            <a:rPr lang="es-CO" sz="1800" i="1" kern="100">
                              <a:effectLst/>
                              <a:latin typeface="Cambria Math" panose="02040503050406030204" pitchFamily="18" charset="0"/>
                              <a:ea typeface="Aptos"/>
                              <a:cs typeface="Arial" panose="020B0604020202020204" pitchFamily="34" charset="0"/>
                            </a:rPr>
                            <m:t>  </m:t>
                          </m:r>
                          <m:r>
                            <a:rPr lang="es-CO" sz="1800" i="1" kern="100">
                              <a:effectLst/>
                              <a:latin typeface="Cambria Math" panose="02040503050406030204" pitchFamily="18" charset="0"/>
                              <a:ea typeface="Aptos"/>
                              <a:cs typeface="Arial" panose="020B0604020202020204" pitchFamily="34" charset="0"/>
                            </a:rPr>
                            <m:t>𝑑𝑉</m:t>
                          </m:r>
                        </m:e>
                      </m:nary>
                    </m:oMath>
                  </m:oMathPara>
                </a14:m>
                <a:endParaRPr lang="es-CO" kern="100" noProof="0" dirty="0">
                  <a:latin typeface="Times New Roman" panose="02020603050405020304" pitchFamily="18" charset="0"/>
                  <a:ea typeface="Tahoma" panose="020B0604030504040204" pitchFamily="34" charset="0"/>
                  <a:cs typeface="Arial" panose="020B0604020202020204" pitchFamily="34" charset="0"/>
                </a:endParaRPr>
              </a:p>
              <a:p>
                <a:br>
                  <a:rPr lang="es-MX" b="1"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br>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6" name="CuadroTexto 5">
                <a:extLst>
                  <a:ext uri="{FF2B5EF4-FFF2-40B4-BE49-F238E27FC236}">
                    <a16:creationId xmlns:a16="http://schemas.microsoft.com/office/drawing/2014/main" id="{A2BDCF85-B522-82D0-6C3E-1939736AEF71}"/>
                  </a:ext>
                </a:extLst>
              </p:cNvPr>
              <p:cNvSpPr txBox="1">
                <a:spLocks noRot="1" noChangeAspect="1" noMove="1" noResize="1" noEditPoints="1" noAdjustHandles="1" noChangeArrowheads="1" noChangeShapeType="1" noTextEdit="1"/>
              </p:cNvSpPr>
              <p:nvPr/>
            </p:nvSpPr>
            <p:spPr>
              <a:xfrm>
                <a:off x="312433" y="1489532"/>
                <a:ext cx="3391820" cy="1766702"/>
              </a:xfrm>
              <a:prstGeom prst="rect">
                <a:avLst/>
              </a:prstGeom>
              <a:blipFill>
                <a:blip r:embed="rId3"/>
                <a:stretch>
                  <a:fillRect l="-1436" t="-1724"/>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039813A7-6A3F-43E1-94CD-16095F3E7493}"/>
                  </a:ext>
                </a:extLst>
              </p:cNvPr>
              <p:cNvSpPr txBox="1"/>
              <p:nvPr/>
            </p:nvSpPr>
            <p:spPr>
              <a:xfrm>
                <a:off x="-751459" y="3429000"/>
                <a:ext cx="6096000" cy="76713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limLoc m:val="subSup"/>
                          <m:ctrlPr>
                            <a:rPr lang="es-CO" i="1" smtClean="0">
                              <a:solidFill>
                                <a:srgbClr val="836967"/>
                              </a:solidFill>
                              <a:latin typeface="Cambria Math" panose="02040503050406030204" pitchFamily="18" charset="0"/>
                            </a:rPr>
                          </m:ctrlPr>
                        </m:naryPr>
                        <m:sub>
                          <m:sSub>
                            <m:sSubPr>
                              <m:ctrlPr>
                                <a:rPr lang="es-CO" i="1">
                                  <a:solidFill>
                                    <a:srgbClr val="836967"/>
                                  </a:solidFill>
                                  <a:latin typeface="Cambria Math" panose="02040503050406030204" pitchFamily="18" charset="0"/>
                                </a:rPr>
                              </m:ctrlPr>
                            </m:sSubPr>
                            <m:e>
                              <m:r>
                                <a:rPr lang="es-CO" i="1">
                                  <a:latin typeface="Cambria Math" panose="02040503050406030204" pitchFamily="18" charset="0"/>
                                </a:rPr>
                                <m:t>𝑧</m:t>
                              </m:r>
                            </m:e>
                            <m:sub>
                              <m:r>
                                <a:rPr lang="es-CO" i="0">
                                  <a:latin typeface="Cambria Math" panose="02040503050406030204" pitchFamily="18" charset="0"/>
                                </a:rPr>
                                <m:t>1</m:t>
                              </m:r>
                            </m:sub>
                          </m:sSub>
                        </m:sub>
                        <m:sup>
                          <m:sSub>
                            <m:sSubPr>
                              <m:ctrlPr>
                                <a:rPr lang="es-CO" i="1">
                                  <a:solidFill>
                                    <a:srgbClr val="836967"/>
                                  </a:solidFill>
                                  <a:latin typeface="Cambria Math" panose="02040503050406030204" pitchFamily="18" charset="0"/>
                                </a:rPr>
                              </m:ctrlPr>
                            </m:sSubPr>
                            <m:e>
                              <m:r>
                                <a:rPr lang="es-CO" i="1">
                                  <a:latin typeface="Cambria Math" panose="02040503050406030204" pitchFamily="18" charset="0"/>
                                </a:rPr>
                                <m:t>𝑧</m:t>
                              </m:r>
                            </m:e>
                            <m:sub>
                              <m:r>
                                <a:rPr lang="es-CO" i="0">
                                  <a:latin typeface="Cambria Math" panose="02040503050406030204" pitchFamily="18" charset="0"/>
                                </a:rPr>
                                <m:t>2</m:t>
                              </m:r>
                            </m:sub>
                          </m:sSub>
                        </m:sup>
                        <m:e>
                          <m:nary>
                            <m:naryPr>
                              <m:limLoc m:val="subSup"/>
                              <m:ctrlPr>
                                <a:rPr lang="es-CO" i="1">
                                  <a:latin typeface="Cambria Math" panose="02040503050406030204" pitchFamily="18" charset="0"/>
                                </a:rPr>
                              </m:ctrlPr>
                            </m:naryPr>
                            <m:sub>
                              <m:sSub>
                                <m:sSubPr>
                                  <m:ctrlPr>
                                    <a:rPr lang="es-CO" i="1">
                                      <a:solidFill>
                                        <a:srgbClr val="836967"/>
                                      </a:solidFill>
                                      <a:latin typeface="Cambria Math" panose="02040503050406030204" pitchFamily="18" charset="0"/>
                                    </a:rPr>
                                  </m:ctrlPr>
                                </m:sSubPr>
                                <m:e>
                                  <m:r>
                                    <a:rPr lang="es-CO" i="1">
                                      <a:latin typeface="Cambria Math" panose="02040503050406030204" pitchFamily="18" charset="0"/>
                                    </a:rPr>
                                    <m:t>𝑦</m:t>
                                  </m:r>
                                </m:e>
                                <m:sub>
                                  <m:r>
                                    <a:rPr lang="es-CO" i="0">
                                      <a:latin typeface="Cambria Math" panose="02040503050406030204" pitchFamily="18" charset="0"/>
                                    </a:rPr>
                                    <m:t>1</m:t>
                                  </m:r>
                                </m:sub>
                              </m:sSub>
                              <m:d>
                                <m:dPr>
                                  <m:ctrlPr>
                                    <a:rPr lang="es-CO" i="1">
                                      <a:solidFill>
                                        <a:srgbClr val="836967"/>
                                      </a:solidFill>
                                      <a:latin typeface="Cambria Math" panose="02040503050406030204" pitchFamily="18" charset="0"/>
                                    </a:rPr>
                                  </m:ctrlPr>
                                </m:dPr>
                                <m:e>
                                  <m:r>
                                    <a:rPr lang="es-CO" i="1">
                                      <a:latin typeface="Cambria Math" panose="02040503050406030204" pitchFamily="18" charset="0"/>
                                    </a:rPr>
                                    <m:t>𝑧</m:t>
                                  </m:r>
                                </m:e>
                              </m:d>
                            </m:sub>
                            <m:sup>
                              <m:sSub>
                                <m:sSubPr>
                                  <m:ctrlPr>
                                    <a:rPr lang="es-CO" i="1">
                                      <a:solidFill>
                                        <a:srgbClr val="836967"/>
                                      </a:solidFill>
                                      <a:latin typeface="Cambria Math" panose="02040503050406030204" pitchFamily="18" charset="0"/>
                                    </a:rPr>
                                  </m:ctrlPr>
                                </m:sSubPr>
                                <m:e>
                                  <m:r>
                                    <a:rPr lang="es-CO" i="1">
                                      <a:latin typeface="Cambria Math" panose="02040503050406030204" pitchFamily="18" charset="0"/>
                                    </a:rPr>
                                    <m:t>𝑦</m:t>
                                  </m:r>
                                </m:e>
                                <m:sub>
                                  <m:r>
                                    <a:rPr lang="es-CO" i="0">
                                      <a:latin typeface="Cambria Math" panose="02040503050406030204" pitchFamily="18" charset="0"/>
                                    </a:rPr>
                                    <m:t>2</m:t>
                                  </m:r>
                                </m:sub>
                              </m:sSub>
                              <m:d>
                                <m:dPr>
                                  <m:ctrlPr>
                                    <a:rPr lang="es-CO" i="1">
                                      <a:solidFill>
                                        <a:srgbClr val="836967"/>
                                      </a:solidFill>
                                      <a:latin typeface="Cambria Math" panose="02040503050406030204" pitchFamily="18" charset="0"/>
                                    </a:rPr>
                                  </m:ctrlPr>
                                </m:dPr>
                                <m:e>
                                  <m:r>
                                    <a:rPr lang="es-CO" i="1">
                                      <a:latin typeface="Cambria Math" panose="02040503050406030204" pitchFamily="18" charset="0"/>
                                    </a:rPr>
                                    <m:t>𝑧</m:t>
                                  </m:r>
                                </m:e>
                              </m:d>
                            </m:sup>
                            <m:e>
                              <m:nary>
                                <m:naryPr>
                                  <m:limLoc m:val="subSup"/>
                                  <m:ctrlPr>
                                    <a:rPr lang="es-CO" i="1">
                                      <a:latin typeface="Cambria Math" panose="02040503050406030204" pitchFamily="18" charset="0"/>
                                    </a:rPr>
                                  </m:ctrlPr>
                                </m:naryPr>
                                <m:sub>
                                  <m:sSub>
                                    <m:sSubPr>
                                      <m:ctrlPr>
                                        <a:rPr lang="es-CO" i="1">
                                          <a:solidFill>
                                            <a:srgbClr val="836967"/>
                                          </a:solidFill>
                                          <a:latin typeface="Cambria Math" panose="02040503050406030204" pitchFamily="18" charset="0"/>
                                        </a:rPr>
                                      </m:ctrlPr>
                                    </m:sSubPr>
                                    <m:e>
                                      <m:r>
                                        <a:rPr lang="es-CO" i="1">
                                          <a:latin typeface="Cambria Math" panose="02040503050406030204" pitchFamily="18" charset="0"/>
                                        </a:rPr>
                                        <m:t>𝑥</m:t>
                                      </m:r>
                                    </m:e>
                                    <m:sub>
                                      <m:r>
                                        <a:rPr lang="es-CO" i="0">
                                          <a:latin typeface="Cambria Math" panose="02040503050406030204" pitchFamily="18" charset="0"/>
                                        </a:rPr>
                                        <m:t>1</m:t>
                                      </m:r>
                                    </m:sub>
                                  </m:sSub>
                                  <m:d>
                                    <m:dPr>
                                      <m:ctrlPr>
                                        <a:rPr lang="es-CO" i="1">
                                          <a:solidFill>
                                            <a:srgbClr val="836967"/>
                                          </a:solidFill>
                                          <a:latin typeface="Cambria Math" panose="02040503050406030204" pitchFamily="18" charset="0"/>
                                        </a:rPr>
                                      </m:ctrlPr>
                                    </m:dPr>
                                    <m:e>
                                      <m:r>
                                        <a:rPr lang="es-CO" i="1">
                                          <a:latin typeface="Cambria Math" panose="02040503050406030204" pitchFamily="18" charset="0"/>
                                        </a:rPr>
                                        <m:t>𝑦</m:t>
                                      </m:r>
                                      <m:r>
                                        <a:rPr lang="es-CO" i="0">
                                          <a:latin typeface="Cambria Math" panose="02040503050406030204" pitchFamily="18" charset="0"/>
                                        </a:rPr>
                                        <m:t>,</m:t>
                                      </m:r>
                                      <m:r>
                                        <a:rPr lang="es-CO" i="1">
                                          <a:latin typeface="Cambria Math" panose="02040503050406030204" pitchFamily="18" charset="0"/>
                                        </a:rPr>
                                        <m:t>𝑧</m:t>
                                      </m:r>
                                    </m:e>
                                  </m:d>
                                </m:sub>
                                <m:sup>
                                  <m:sSub>
                                    <m:sSubPr>
                                      <m:ctrlPr>
                                        <a:rPr lang="es-CO" i="1">
                                          <a:solidFill>
                                            <a:srgbClr val="836967"/>
                                          </a:solidFill>
                                          <a:latin typeface="Cambria Math" panose="02040503050406030204" pitchFamily="18" charset="0"/>
                                        </a:rPr>
                                      </m:ctrlPr>
                                    </m:sSubPr>
                                    <m:e>
                                      <m:r>
                                        <a:rPr lang="es-CO" i="1">
                                          <a:latin typeface="Cambria Math" panose="02040503050406030204" pitchFamily="18" charset="0"/>
                                        </a:rPr>
                                        <m:t>𝑥</m:t>
                                      </m:r>
                                    </m:e>
                                    <m:sub>
                                      <m:r>
                                        <a:rPr lang="es-CO" i="0">
                                          <a:latin typeface="Cambria Math" panose="02040503050406030204" pitchFamily="18" charset="0"/>
                                        </a:rPr>
                                        <m:t>2</m:t>
                                      </m:r>
                                    </m:sub>
                                  </m:sSub>
                                  <m:d>
                                    <m:dPr>
                                      <m:ctrlPr>
                                        <a:rPr lang="es-CO" i="1">
                                          <a:solidFill>
                                            <a:srgbClr val="836967"/>
                                          </a:solidFill>
                                          <a:latin typeface="Cambria Math" panose="02040503050406030204" pitchFamily="18" charset="0"/>
                                        </a:rPr>
                                      </m:ctrlPr>
                                    </m:dPr>
                                    <m:e>
                                      <m:r>
                                        <a:rPr lang="es-CO" i="1">
                                          <a:latin typeface="Cambria Math" panose="02040503050406030204" pitchFamily="18" charset="0"/>
                                        </a:rPr>
                                        <m:t>𝑦</m:t>
                                      </m:r>
                                      <m:r>
                                        <a:rPr lang="es-CO" i="0">
                                          <a:latin typeface="Cambria Math" panose="02040503050406030204" pitchFamily="18" charset="0"/>
                                        </a:rPr>
                                        <m:t>,</m:t>
                                      </m:r>
                                      <m:r>
                                        <a:rPr lang="es-CO" i="1">
                                          <a:latin typeface="Cambria Math" panose="02040503050406030204" pitchFamily="18" charset="0"/>
                                        </a:rPr>
                                        <m:t>𝑧</m:t>
                                      </m:r>
                                    </m:e>
                                  </m:d>
                                </m:sup>
                                <m:e>
                                  <m:r>
                                    <a:rPr lang="es-CO" i="1">
                                      <a:latin typeface="Cambria Math" panose="02040503050406030204" pitchFamily="18" charset="0"/>
                                    </a:rPr>
                                    <m:t>𝑓</m:t>
                                  </m:r>
                                  <m:d>
                                    <m:dPr>
                                      <m:ctrlPr>
                                        <a:rPr lang="es-CO" i="1">
                                          <a:solidFill>
                                            <a:srgbClr val="836967"/>
                                          </a:solidFill>
                                          <a:latin typeface="Cambria Math" panose="02040503050406030204" pitchFamily="18" charset="0"/>
                                        </a:rPr>
                                      </m:ctrlPr>
                                    </m:dPr>
                                    <m:e>
                                      <m:r>
                                        <a:rPr lang="es-CO" i="1">
                                          <a:latin typeface="Cambria Math" panose="02040503050406030204" pitchFamily="18" charset="0"/>
                                        </a:rPr>
                                        <m:t>𝑥</m:t>
                                      </m:r>
                                      <m:r>
                                        <a:rPr lang="es-CO" i="0">
                                          <a:latin typeface="Cambria Math" panose="02040503050406030204" pitchFamily="18" charset="0"/>
                                        </a:rPr>
                                        <m:t>,</m:t>
                                      </m:r>
                                      <m:r>
                                        <a:rPr lang="es-CO" i="1">
                                          <a:latin typeface="Cambria Math" panose="02040503050406030204" pitchFamily="18" charset="0"/>
                                        </a:rPr>
                                        <m:t>𝑦</m:t>
                                      </m:r>
                                      <m:r>
                                        <a:rPr lang="es-CO" i="0">
                                          <a:latin typeface="Cambria Math" panose="02040503050406030204" pitchFamily="18" charset="0"/>
                                        </a:rPr>
                                        <m:t>,</m:t>
                                      </m:r>
                                      <m:r>
                                        <a:rPr lang="es-CO" i="1">
                                          <a:latin typeface="Cambria Math" panose="02040503050406030204" pitchFamily="18" charset="0"/>
                                        </a:rPr>
                                        <m:t>𝑧</m:t>
                                      </m:r>
                                    </m:e>
                                  </m:d>
                                </m:e>
                              </m:nary>
                              <m:r>
                                <a:rPr lang="es-CO" i="0">
                                  <a:latin typeface="Cambria Math" panose="02040503050406030204" pitchFamily="18" charset="0"/>
                                </a:rPr>
                                <m:t> </m:t>
                              </m:r>
                              <m:r>
                                <a:rPr lang="es-CO" i="1">
                                  <a:latin typeface="Cambria Math" panose="02040503050406030204" pitchFamily="18" charset="0"/>
                                </a:rPr>
                                <m:t>𝑑𝑥</m:t>
                              </m:r>
                              <m:r>
                                <a:rPr lang="es-CO" i="0">
                                  <a:latin typeface="Cambria Math" panose="02040503050406030204" pitchFamily="18" charset="0"/>
                                </a:rPr>
                                <m:t> </m:t>
                              </m:r>
                              <m:r>
                                <a:rPr lang="es-CO" i="1">
                                  <a:latin typeface="Cambria Math" panose="02040503050406030204" pitchFamily="18" charset="0"/>
                                </a:rPr>
                                <m:t>𝑑𝑦</m:t>
                              </m:r>
                              <m:r>
                                <a:rPr lang="es-CO" i="0">
                                  <a:latin typeface="Cambria Math" panose="02040503050406030204" pitchFamily="18" charset="0"/>
                                </a:rPr>
                                <m:t> </m:t>
                              </m:r>
                              <m:r>
                                <a:rPr lang="es-CO" i="1">
                                  <a:latin typeface="Cambria Math" panose="02040503050406030204" pitchFamily="18" charset="0"/>
                                </a:rPr>
                                <m:t>𝑑𝑧</m:t>
                              </m:r>
                            </m:e>
                          </m:nary>
                        </m:e>
                      </m:nary>
                    </m:oMath>
                  </m:oMathPara>
                </a14:m>
                <a:endParaRPr lang="es-CO" dirty="0"/>
              </a:p>
            </p:txBody>
          </p:sp>
        </mc:Choice>
        <mc:Fallback xmlns="">
          <p:sp>
            <p:nvSpPr>
              <p:cNvPr id="12" name="CuadroTexto 11">
                <a:extLst>
                  <a:ext uri="{FF2B5EF4-FFF2-40B4-BE49-F238E27FC236}">
                    <a16:creationId xmlns:a16="http://schemas.microsoft.com/office/drawing/2014/main" id="{039813A7-6A3F-43E1-94CD-16095F3E7493}"/>
                  </a:ext>
                </a:extLst>
              </p:cNvPr>
              <p:cNvSpPr txBox="1">
                <a:spLocks noRot="1" noChangeAspect="1" noMove="1" noResize="1" noEditPoints="1" noAdjustHandles="1" noChangeArrowheads="1" noChangeShapeType="1" noTextEdit="1"/>
              </p:cNvSpPr>
              <p:nvPr/>
            </p:nvSpPr>
            <p:spPr>
              <a:xfrm>
                <a:off x="-751459" y="3429000"/>
                <a:ext cx="6096000" cy="767133"/>
              </a:xfrm>
              <a:prstGeom prst="rect">
                <a:avLst/>
              </a:prstGeom>
              <a:blipFill>
                <a:blip r:embed="rId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6EFA2365-043A-71D4-453F-A9B2253E1F78}"/>
                  </a:ext>
                </a:extLst>
              </p:cNvPr>
              <p:cNvSpPr txBox="1"/>
              <p:nvPr/>
            </p:nvSpPr>
            <p:spPr>
              <a:xfrm>
                <a:off x="5770841" y="1383055"/>
                <a:ext cx="5239282" cy="2429511"/>
              </a:xfrm>
              <a:prstGeom prst="rect">
                <a:avLst/>
              </a:prstGeom>
              <a:noFill/>
            </p:spPr>
            <p:txBody>
              <a:bodyPr wrap="square">
                <a:spAutoFit/>
              </a:bodyPr>
              <a:lstStyle/>
              <a:p>
                <a:pPr/>
                <a:r>
                  <a:rPr lang="es-MX" b="1"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Integrales </a:t>
                </a:r>
                <a:r>
                  <a:rPr lang="es-MX" b="1"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Dobles</a:t>
                </a:r>
                <a:br>
                  <a:rPr lang="es-MX" b="1"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br>
                <a:b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br>
                <a:b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br>
                <a14:m>
                  <m:oMathPara xmlns:m="http://schemas.openxmlformats.org/officeDocument/2006/math">
                    <m:oMathParaPr>
                      <m:jc m:val="centerGroup"/>
                    </m:oMathParaPr>
                    <m:oMath xmlns:m="http://schemas.openxmlformats.org/officeDocument/2006/math">
                      <m:nary>
                        <m:naryPr>
                          <m:ctrlPr>
                            <a:rPr lang="es-CO" i="1">
                              <a:latin typeface="Cambria Math" panose="02040503050406030204" pitchFamily="18" charset="0"/>
                            </a:rPr>
                          </m:ctrlPr>
                        </m:naryPr>
                        <m:sub>
                          <m:d>
                            <m:dPr>
                              <m:begChr m:val="{"/>
                              <m:endChr m:val="}"/>
                              <m:ctrlPr>
                                <a:rPr lang="es-CO" i="1">
                                  <a:latin typeface="Cambria Math" panose="02040503050406030204" pitchFamily="18" charset="0"/>
                                </a:rPr>
                              </m:ctrlPr>
                            </m:dPr>
                            <m:e>
                              <m:sSub>
                                <m:sSubPr>
                                  <m:ctrlPr>
                                    <a:rPr lang="es-CO" i="1">
                                      <a:latin typeface="Cambria Math" panose="02040503050406030204" pitchFamily="18" charset="0"/>
                                    </a:rPr>
                                  </m:ctrlPr>
                                </m:sSubPr>
                                <m:e>
                                  <m:r>
                                    <a:rPr lang="es-CO" i="1">
                                      <a:latin typeface="Cambria Math" panose="02040503050406030204" pitchFamily="18" charset="0"/>
                                    </a:rPr>
                                    <m:t>𝑦</m:t>
                                  </m:r>
                                </m:e>
                                <m:sub>
                                  <m:r>
                                    <a:rPr lang="es-CO" i="1">
                                      <a:latin typeface="Cambria Math" panose="02040503050406030204" pitchFamily="18" charset="0"/>
                                    </a:rPr>
                                    <m:t>1</m:t>
                                  </m:r>
                                </m:sub>
                              </m:sSub>
                            </m:e>
                          </m:d>
                        </m:sub>
                        <m:sup>
                          <m:d>
                            <m:dPr>
                              <m:begChr m:val="{"/>
                              <m:endChr m:val="}"/>
                              <m:ctrlPr>
                                <a:rPr lang="es-CO" i="1">
                                  <a:latin typeface="Cambria Math" panose="02040503050406030204" pitchFamily="18" charset="0"/>
                                </a:rPr>
                              </m:ctrlPr>
                            </m:dPr>
                            <m:e>
                              <m:sSub>
                                <m:sSubPr>
                                  <m:ctrlPr>
                                    <a:rPr lang="es-CO" i="1">
                                      <a:latin typeface="Cambria Math" panose="02040503050406030204" pitchFamily="18" charset="0"/>
                                    </a:rPr>
                                  </m:ctrlPr>
                                </m:sSubPr>
                                <m:e>
                                  <m:r>
                                    <a:rPr lang="es-CO" i="1">
                                      <a:latin typeface="Cambria Math" panose="02040503050406030204" pitchFamily="18" charset="0"/>
                                    </a:rPr>
                                    <m:t>𝑦</m:t>
                                  </m:r>
                                </m:e>
                                <m:sub>
                                  <m:r>
                                    <a:rPr lang="es-CO" i="1">
                                      <a:latin typeface="Cambria Math" panose="02040503050406030204" pitchFamily="18" charset="0"/>
                                    </a:rPr>
                                    <m:t>2</m:t>
                                  </m:r>
                                </m:sub>
                              </m:sSub>
                            </m:e>
                          </m:d>
                        </m:sup>
                        <m:e>
                          <m:d>
                            <m:dPr>
                              <m:ctrlPr>
                                <a:rPr lang="es-CO" i="1">
                                  <a:latin typeface="Cambria Math" panose="02040503050406030204" pitchFamily="18" charset="0"/>
                                </a:rPr>
                              </m:ctrlPr>
                            </m:dPr>
                            <m:e>
                              <m:nary>
                                <m:naryPr>
                                  <m:ctrlPr>
                                    <a:rPr lang="es-CO" i="1">
                                      <a:latin typeface="Cambria Math" panose="02040503050406030204" pitchFamily="18" charset="0"/>
                                    </a:rPr>
                                  </m:ctrlPr>
                                </m:naryPr>
                                <m:sub>
                                  <m:d>
                                    <m:dPr>
                                      <m:begChr m:val="{"/>
                                      <m:endChr m:val="}"/>
                                      <m:ctrlPr>
                                        <a:rPr lang="es-CO" i="1">
                                          <a:latin typeface="Cambria Math" panose="02040503050406030204" pitchFamily="18" charset="0"/>
                                        </a:rPr>
                                      </m:ctrlPr>
                                    </m:dPr>
                                    <m:e>
                                      <m:sSub>
                                        <m:sSubPr>
                                          <m:ctrlPr>
                                            <a:rPr lang="es-CO" i="1">
                                              <a:latin typeface="Cambria Math" panose="02040503050406030204" pitchFamily="18" charset="0"/>
                                            </a:rPr>
                                          </m:ctrlPr>
                                        </m:sSubPr>
                                        <m:e>
                                          <m:r>
                                            <a:rPr lang="es-CO" i="1">
                                              <a:latin typeface="Cambria Math" panose="02040503050406030204" pitchFamily="18" charset="0"/>
                                            </a:rPr>
                                            <m:t>𝑥</m:t>
                                          </m:r>
                                        </m:e>
                                        <m:sub>
                                          <m:r>
                                            <a:rPr lang="es-CO" i="1">
                                              <a:latin typeface="Cambria Math" panose="02040503050406030204" pitchFamily="18" charset="0"/>
                                            </a:rPr>
                                            <m:t>1</m:t>
                                          </m:r>
                                        </m:sub>
                                      </m:sSub>
                                    </m:e>
                                  </m:d>
                                </m:sub>
                                <m:sup>
                                  <m:d>
                                    <m:dPr>
                                      <m:begChr m:val="{"/>
                                      <m:endChr m:val="}"/>
                                      <m:ctrlPr>
                                        <a:rPr lang="es-CO" i="1">
                                          <a:latin typeface="Cambria Math" panose="02040503050406030204" pitchFamily="18" charset="0"/>
                                        </a:rPr>
                                      </m:ctrlPr>
                                    </m:dPr>
                                    <m:e>
                                      <m:sSub>
                                        <m:sSubPr>
                                          <m:ctrlPr>
                                            <a:rPr lang="es-CO" i="1">
                                              <a:latin typeface="Cambria Math" panose="02040503050406030204" pitchFamily="18" charset="0"/>
                                            </a:rPr>
                                          </m:ctrlPr>
                                        </m:sSubPr>
                                        <m:e>
                                          <m:r>
                                            <a:rPr lang="es-CO" i="1">
                                              <a:latin typeface="Cambria Math" panose="02040503050406030204" pitchFamily="18" charset="0"/>
                                            </a:rPr>
                                            <m:t>𝑥</m:t>
                                          </m:r>
                                        </m:e>
                                        <m:sub>
                                          <m:r>
                                            <a:rPr lang="es-CO" i="1">
                                              <a:latin typeface="Cambria Math" panose="02040503050406030204" pitchFamily="18" charset="0"/>
                                            </a:rPr>
                                            <m:t>2</m:t>
                                          </m:r>
                                        </m:sub>
                                      </m:sSub>
                                    </m:e>
                                  </m:d>
                                </m:sup>
                                <m:e>
                                  <m:r>
                                    <a:rPr lang="es-CO" i="1">
                                      <a:latin typeface="Cambria Math" panose="02040503050406030204" pitchFamily="18" charset="0"/>
                                    </a:rPr>
                                    <m:t>𝑓</m:t>
                                  </m:r>
                                  <m:d>
                                    <m:dPr>
                                      <m:ctrlPr>
                                        <a:rPr lang="es-CO" i="1">
                                          <a:latin typeface="Cambria Math" panose="02040503050406030204" pitchFamily="18" charset="0"/>
                                        </a:rPr>
                                      </m:ctrlPr>
                                    </m:dPr>
                                    <m:e>
                                      <m:r>
                                        <a:rPr lang="es-CO" i="1">
                                          <a:latin typeface="Cambria Math" panose="02040503050406030204" pitchFamily="18" charset="0"/>
                                        </a:rPr>
                                        <m:t>𝑥</m:t>
                                      </m:r>
                                      <m:r>
                                        <a:rPr lang="es-CO" i="1">
                                          <a:latin typeface="Cambria Math" panose="02040503050406030204" pitchFamily="18" charset="0"/>
                                        </a:rPr>
                                        <m:t>, </m:t>
                                      </m:r>
                                      <m:r>
                                        <a:rPr lang="es-CO" i="1">
                                          <a:latin typeface="Cambria Math" panose="02040503050406030204" pitchFamily="18" charset="0"/>
                                        </a:rPr>
                                        <m:t>𝑦</m:t>
                                      </m:r>
                                    </m:e>
                                  </m:d>
                                </m:e>
                              </m:nary>
                              <m:r>
                                <a:rPr lang="es-CO" i="1">
                                  <a:latin typeface="Cambria Math" panose="02040503050406030204" pitchFamily="18" charset="0"/>
                                </a:rPr>
                                <m:t>𝑑𝑥</m:t>
                              </m:r>
                            </m:e>
                          </m:d>
                          <m:r>
                            <a:rPr lang="es-CO" i="1">
                              <a:latin typeface="Cambria Math" panose="02040503050406030204" pitchFamily="18" charset="0"/>
                            </a:rPr>
                            <m:t>𝑑𝑦</m:t>
                          </m:r>
                        </m:e>
                      </m:nary>
                      <m:r>
                        <a:rPr lang="es-CO" i="1">
                          <a:latin typeface="Cambria Math" panose="02040503050406030204" pitchFamily="18" charset="0"/>
                        </a:rPr>
                        <m:t>  </m:t>
                      </m:r>
                    </m:oMath>
                  </m:oMathPara>
                </a14:m>
                <a:endParaRPr lang="es-CO" dirty="0"/>
              </a:p>
              <a:p>
                <a:endParaRPr lang="es-CO" kern="100" noProof="0" dirty="0">
                  <a:latin typeface="Times New Roman" panose="02020603050405020304" pitchFamily="18" charset="0"/>
                  <a:ea typeface="Tahoma" panose="020B0604030504040204" pitchFamily="34" charset="0"/>
                  <a:cs typeface="Arial" panose="020B0604020202020204" pitchFamily="34" charset="0"/>
                </a:endParaRPr>
              </a:p>
              <a:p>
                <a:br>
                  <a:rPr lang="es-MX" b="1"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br>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5" name="CuadroTexto 4">
                <a:extLst>
                  <a:ext uri="{FF2B5EF4-FFF2-40B4-BE49-F238E27FC236}">
                    <a16:creationId xmlns:a16="http://schemas.microsoft.com/office/drawing/2014/main" id="{6EFA2365-043A-71D4-453F-A9B2253E1F78}"/>
                  </a:ext>
                </a:extLst>
              </p:cNvPr>
              <p:cNvSpPr txBox="1">
                <a:spLocks noRot="1" noChangeAspect="1" noMove="1" noResize="1" noEditPoints="1" noAdjustHandles="1" noChangeArrowheads="1" noChangeShapeType="1" noTextEdit="1"/>
              </p:cNvSpPr>
              <p:nvPr/>
            </p:nvSpPr>
            <p:spPr>
              <a:xfrm>
                <a:off x="5770841" y="1383055"/>
                <a:ext cx="5239282" cy="2429511"/>
              </a:xfrm>
              <a:prstGeom prst="rect">
                <a:avLst/>
              </a:prstGeom>
              <a:blipFill>
                <a:blip r:embed="rId5"/>
                <a:stretch>
                  <a:fillRect l="-1048" t="-1508"/>
                </a:stretch>
              </a:blipFill>
            </p:spPr>
            <p:txBody>
              <a:bodyPr/>
              <a:lstStyle/>
              <a:p>
                <a:r>
                  <a:rPr lang="es-CO">
                    <a:noFill/>
                  </a:rPr>
                  <a:t> </a:t>
                </a:r>
              </a:p>
            </p:txBody>
          </p:sp>
        </mc:Fallback>
      </mc:AlternateContent>
      <p:sp>
        <p:nvSpPr>
          <p:cNvPr id="7" name="CuadroTexto 6">
            <a:extLst>
              <a:ext uri="{FF2B5EF4-FFF2-40B4-BE49-F238E27FC236}">
                <a16:creationId xmlns:a16="http://schemas.microsoft.com/office/drawing/2014/main" id="{DF394785-907E-E87F-F579-EFF1F06D5AF9}"/>
              </a:ext>
            </a:extLst>
          </p:cNvPr>
          <p:cNvSpPr txBox="1"/>
          <p:nvPr/>
        </p:nvSpPr>
        <p:spPr>
          <a:xfrm>
            <a:off x="6096000" y="3128966"/>
            <a:ext cx="4316401" cy="1663276"/>
          </a:xfrm>
          <a:prstGeom prst="rect">
            <a:avLst/>
          </a:prstGeom>
          <a:noFill/>
        </p:spPr>
        <p:txBody>
          <a:bodyPr wrap="square">
            <a:spAutoFit/>
          </a:bodyPr>
          <a:lstStyle/>
          <a:p>
            <a:pPr indent="457200">
              <a:lnSpc>
                <a:spcPct val="200000"/>
              </a:lnSpc>
              <a:spcAft>
                <a:spcPts val="800"/>
              </a:spcAft>
            </a:pPr>
            <a:r>
              <a:rPr lang="es-MX" sz="1800" kern="100" dirty="0">
                <a:effectLst/>
                <a:latin typeface="Tahoma" panose="020B0604030504040204" pitchFamily="34" charset="0"/>
                <a:ea typeface="Tahoma" panose="020B0604030504040204" pitchFamily="34" charset="0"/>
                <a:cs typeface="Tahoma" panose="020B0604030504040204" pitchFamily="34" charset="0"/>
              </a:rPr>
              <a:t>Se puede calcular el mismo volumen cambiando el orden de integración:</a:t>
            </a:r>
            <a:endParaRPr lang="es-CO" dirty="0">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181715B2-2F53-E9E7-7564-C428253B7203}"/>
                  </a:ext>
                </a:extLst>
              </p:cNvPr>
              <p:cNvSpPr txBox="1"/>
              <p:nvPr/>
            </p:nvSpPr>
            <p:spPr>
              <a:xfrm>
                <a:off x="6545181" y="5115448"/>
                <a:ext cx="3690601" cy="10461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trlPr>
                            <a:rPr lang="es-CO" i="1">
                              <a:latin typeface="Cambria Math" panose="02040503050406030204" pitchFamily="18" charset="0"/>
                            </a:rPr>
                          </m:ctrlPr>
                        </m:naryPr>
                        <m:sub>
                          <m:d>
                            <m:dPr>
                              <m:begChr m:val="{"/>
                              <m:endChr m:val="}"/>
                              <m:ctrlPr>
                                <a:rPr lang="es-CO" i="1">
                                  <a:latin typeface="Cambria Math" panose="02040503050406030204" pitchFamily="18" charset="0"/>
                                </a:rPr>
                              </m:ctrlPr>
                            </m:dPr>
                            <m:e>
                              <m:sSub>
                                <m:sSubPr>
                                  <m:ctrlPr>
                                    <a:rPr lang="es-CO" i="1">
                                      <a:latin typeface="Cambria Math" panose="02040503050406030204" pitchFamily="18" charset="0"/>
                                    </a:rPr>
                                  </m:ctrlPr>
                                </m:sSubPr>
                                <m:e>
                                  <m:r>
                                    <a:rPr lang="es-CO" i="1">
                                      <a:latin typeface="Cambria Math" panose="02040503050406030204" pitchFamily="18" charset="0"/>
                                    </a:rPr>
                                    <m:t>𝑥</m:t>
                                  </m:r>
                                </m:e>
                                <m:sub>
                                  <m:r>
                                    <a:rPr lang="es-CO" i="1">
                                      <a:latin typeface="Cambria Math" panose="02040503050406030204" pitchFamily="18" charset="0"/>
                                    </a:rPr>
                                    <m:t>1</m:t>
                                  </m:r>
                                </m:sub>
                              </m:sSub>
                            </m:e>
                          </m:d>
                        </m:sub>
                        <m:sup>
                          <m:d>
                            <m:dPr>
                              <m:begChr m:val="{"/>
                              <m:endChr m:val="}"/>
                              <m:ctrlPr>
                                <a:rPr lang="es-CO" i="1">
                                  <a:latin typeface="Cambria Math" panose="02040503050406030204" pitchFamily="18" charset="0"/>
                                </a:rPr>
                              </m:ctrlPr>
                            </m:dPr>
                            <m:e>
                              <m:sSub>
                                <m:sSubPr>
                                  <m:ctrlPr>
                                    <a:rPr lang="es-CO" i="1">
                                      <a:latin typeface="Cambria Math" panose="02040503050406030204" pitchFamily="18" charset="0"/>
                                    </a:rPr>
                                  </m:ctrlPr>
                                </m:sSubPr>
                                <m:e>
                                  <m:r>
                                    <a:rPr lang="es-CO" i="1">
                                      <a:latin typeface="Cambria Math" panose="02040503050406030204" pitchFamily="18" charset="0"/>
                                    </a:rPr>
                                    <m:t>𝑥</m:t>
                                  </m:r>
                                </m:e>
                                <m:sub>
                                  <m:r>
                                    <a:rPr lang="es-CO" i="1">
                                      <a:latin typeface="Cambria Math" panose="02040503050406030204" pitchFamily="18" charset="0"/>
                                    </a:rPr>
                                    <m:t>2</m:t>
                                  </m:r>
                                </m:sub>
                              </m:sSub>
                            </m:e>
                          </m:d>
                        </m:sup>
                        <m:e>
                          <m:d>
                            <m:dPr>
                              <m:ctrlPr>
                                <a:rPr lang="es-CO" i="1">
                                  <a:latin typeface="Cambria Math" panose="02040503050406030204" pitchFamily="18" charset="0"/>
                                </a:rPr>
                              </m:ctrlPr>
                            </m:dPr>
                            <m:e>
                              <m:nary>
                                <m:naryPr>
                                  <m:ctrlPr>
                                    <a:rPr lang="es-CO" i="1">
                                      <a:latin typeface="Cambria Math" panose="02040503050406030204" pitchFamily="18" charset="0"/>
                                    </a:rPr>
                                  </m:ctrlPr>
                                </m:naryPr>
                                <m:sub>
                                  <m:d>
                                    <m:dPr>
                                      <m:begChr m:val="{"/>
                                      <m:endChr m:val="}"/>
                                      <m:ctrlPr>
                                        <a:rPr lang="es-CO" i="1">
                                          <a:latin typeface="Cambria Math" panose="02040503050406030204" pitchFamily="18" charset="0"/>
                                        </a:rPr>
                                      </m:ctrlPr>
                                    </m:dPr>
                                    <m:e>
                                      <m:sSub>
                                        <m:sSubPr>
                                          <m:ctrlPr>
                                            <a:rPr lang="es-CO" i="1">
                                              <a:latin typeface="Cambria Math" panose="02040503050406030204" pitchFamily="18" charset="0"/>
                                            </a:rPr>
                                          </m:ctrlPr>
                                        </m:sSubPr>
                                        <m:e>
                                          <m:r>
                                            <a:rPr lang="es-CO" i="1">
                                              <a:latin typeface="Cambria Math" panose="02040503050406030204" pitchFamily="18" charset="0"/>
                                            </a:rPr>
                                            <m:t>𝑦</m:t>
                                          </m:r>
                                        </m:e>
                                        <m:sub>
                                          <m:r>
                                            <a:rPr lang="es-CO" i="1">
                                              <a:latin typeface="Cambria Math" panose="02040503050406030204" pitchFamily="18" charset="0"/>
                                            </a:rPr>
                                            <m:t>1</m:t>
                                          </m:r>
                                        </m:sub>
                                      </m:sSub>
                                    </m:e>
                                  </m:d>
                                </m:sub>
                                <m:sup>
                                  <m:d>
                                    <m:dPr>
                                      <m:begChr m:val="{"/>
                                      <m:endChr m:val="}"/>
                                      <m:ctrlPr>
                                        <a:rPr lang="es-CO" i="1">
                                          <a:latin typeface="Cambria Math" panose="02040503050406030204" pitchFamily="18" charset="0"/>
                                        </a:rPr>
                                      </m:ctrlPr>
                                    </m:dPr>
                                    <m:e>
                                      <m:sSub>
                                        <m:sSubPr>
                                          <m:ctrlPr>
                                            <a:rPr lang="es-CO" i="1">
                                              <a:latin typeface="Cambria Math" panose="02040503050406030204" pitchFamily="18" charset="0"/>
                                            </a:rPr>
                                          </m:ctrlPr>
                                        </m:sSubPr>
                                        <m:e>
                                          <m:r>
                                            <a:rPr lang="es-CO" i="1">
                                              <a:latin typeface="Cambria Math" panose="02040503050406030204" pitchFamily="18" charset="0"/>
                                            </a:rPr>
                                            <m:t>𝑦</m:t>
                                          </m:r>
                                        </m:e>
                                        <m:sub>
                                          <m:r>
                                            <a:rPr lang="es-CO" i="1">
                                              <a:latin typeface="Cambria Math" panose="02040503050406030204" pitchFamily="18" charset="0"/>
                                            </a:rPr>
                                            <m:t>2</m:t>
                                          </m:r>
                                        </m:sub>
                                      </m:sSub>
                                    </m:e>
                                  </m:d>
                                </m:sup>
                                <m:e>
                                  <m:r>
                                    <a:rPr lang="es-CO" i="1">
                                      <a:latin typeface="Cambria Math" panose="02040503050406030204" pitchFamily="18" charset="0"/>
                                    </a:rPr>
                                    <m:t>𝑓</m:t>
                                  </m:r>
                                  <m:d>
                                    <m:dPr>
                                      <m:ctrlPr>
                                        <a:rPr lang="es-CO" i="1">
                                          <a:latin typeface="Cambria Math" panose="02040503050406030204" pitchFamily="18" charset="0"/>
                                        </a:rPr>
                                      </m:ctrlPr>
                                    </m:dPr>
                                    <m:e>
                                      <m:r>
                                        <a:rPr lang="es-CO" i="1">
                                          <a:latin typeface="Cambria Math" panose="02040503050406030204" pitchFamily="18" charset="0"/>
                                        </a:rPr>
                                        <m:t>𝑥</m:t>
                                      </m:r>
                                      <m:r>
                                        <a:rPr lang="es-CO" i="1">
                                          <a:latin typeface="Cambria Math" panose="02040503050406030204" pitchFamily="18" charset="0"/>
                                        </a:rPr>
                                        <m:t>, </m:t>
                                      </m:r>
                                      <m:r>
                                        <a:rPr lang="es-CO" i="1">
                                          <a:latin typeface="Cambria Math" panose="02040503050406030204" pitchFamily="18" charset="0"/>
                                        </a:rPr>
                                        <m:t>𝑦</m:t>
                                      </m:r>
                                    </m:e>
                                  </m:d>
                                </m:e>
                              </m:nary>
                              <m:r>
                                <a:rPr lang="es-CO" i="1">
                                  <a:latin typeface="Cambria Math" panose="02040503050406030204" pitchFamily="18" charset="0"/>
                                </a:rPr>
                                <m:t>𝑑𝑦</m:t>
                              </m:r>
                            </m:e>
                          </m:d>
                          <m:r>
                            <a:rPr lang="es-CO" i="1">
                              <a:latin typeface="Cambria Math" panose="02040503050406030204" pitchFamily="18" charset="0"/>
                            </a:rPr>
                            <m:t>𝑑𝑥</m:t>
                          </m:r>
                        </m:e>
                      </m:nary>
                      <m:r>
                        <a:rPr lang="es-CO" i="1">
                          <a:latin typeface="Cambria Math" panose="02040503050406030204" pitchFamily="18" charset="0"/>
                        </a:rPr>
                        <m:t>  </m:t>
                      </m:r>
                    </m:oMath>
                  </m:oMathPara>
                </a14:m>
                <a:endParaRPr lang="es-CO" dirty="0"/>
              </a:p>
              <a:p>
                <a:endParaRPr lang="es-CO" dirty="0"/>
              </a:p>
            </p:txBody>
          </p:sp>
        </mc:Choice>
        <mc:Fallback xmlns="">
          <p:sp>
            <p:nvSpPr>
              <p:cNvPr id="8" name="CuadroTexto 7">
                <a:extLst>
                  <a:ext uri="{FF2B5EF4-FFF2-40B4-BE49-F238E27FC236}">
                    <a16:creationId xmlns:a16="http://schemas.microsoft.com/office/drawing/2014/main" id="{181715B2-2F53-E9E7-7564-C428253B7203}"/>
                  </a:ext>
                </a:extLst>
              </p:cNvPr>
              <p:cNvSpPr txBox="1">
                <a:spLocks noRot="1" noChangeAspect="1" noMove="1" noResize="1" noEditPoints="1" noAdjustHandles="1" noChangeArrowheads="1" noChangeShapeType="1" noTextEdit="1"/>
              </p:cNvSpPr>
              <p:nvPr/>
            </p:nvSpPr>
            <p:spPr>
              <a:xfrm>
                <a:off x="6545181" y="5115448"/>
                <a:ext cx="3690601" cy="1046122"/>
              </a:xfrm>
              <a:prstGeom prst="rect">
                <a:avLst/>
              </a:prstGeom>
              <a:blipFill>
                <a:blip r:embed="rId6"/>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3979526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11E7ACF-94CF-8D6B-BDF4-4D809EC4B380}"/>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AB7A4712-231F-F541-2EC6-B1E2789FF21E}"/>
              </a:ext>
            </a:extLst>
          </p:cNvPr>
          <p:cNvSpPr txBox="1"/>
          <p:nvPr/>
        </p:nvSpPr>
        <p:spPr>
          <a:xfrm>
            <a:off x="312433" y="403892"/>
            <a:ext cx="8809081" cy="553998"/>
          </a:xfrm>
          <a:prstGeom prst="rect">
            <a:avLst/>
          </a:prstGeom>
          <a:noFill/>
        </p:spPr>
        <p:txBody>
          <a:bodyPr wrap="square" rtlCol="0">
            <a:spAutoFit/>
          </a:bodyPr>
          <a:lstStyle/>
          <a:p>
            <a:r>
              <a:rPr lang="es-CO" sz="3000" b="1" noProof="0" dirty="0">
                <a:solidFill>
                  <a:schemeClr val="bg1"/>
                </a:solidFill>
                <a:latin typeface="Tahoma" panose="020B0604030504040204" pitchFamily="34" charset="0"/>
                <a:ea typeface="Tahoma" panose="020B0604030504040204" pitchFamily="34" charset="0"/>
                <a:cs typeface="Tahoma" panose="020B0604030504040204" pitchFamily="34" charset="0"/>
              </a:rPr>
              <a:t>Marco Teórico</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B14A2F32-503C-8BB5-1C1B-C951029D2A91}"/>
                  </a:ext>
                </a:extLst>
              </p:cNvPr>
              <p:cNvSpPr txBox="1"/>
              <p:nvPr/>
            </p:nvSpPr>
            <p:spPr>
              <a:xfrm>
                <a:off x="312433" y="1489534"/>
                <a:ext cx="3307845" cy="2074094"/>
              </a:xfrm>
              <a:prstGeom prst="rect">
                <a:avLst/>
              </a:prstGeom>
              <a:noFill/>
            </p:spPr>
            <p:txBody>
              <a:bodyPr wrap="square">
                <a:spAutoFit/>
              </a:bodyPr>
              <a:lstStyle/>
              <a:p>
                <a:r>
                  <a:rPr lang="es-MX" b="1"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Métodos Numéricos</a:t>
                </a:r>
                <a:endParaRPr lang="es-MX" b="1"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pPr/>
                <a:br>
                  <a:rPr lang="es-MX" b="1"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br>
                <a:r>
                  <a:rPr lang="es-MX" b="1"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Cálculo de Casquetes:</a:t>
                </a:r>
                <a:b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br>
                <a:b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br>
                <a14:m>
                  <m:oMathPara xmlns:m="http://schemas.openxmlformats.org/officeDocument/2006/math">
                    <m:oMathParaPr>
                      <m:jc m:val="centerGroup"/>
                    </m:oMathParaPr>
                    <m:oMath xmlns:m="http://schemas.openxmlformats.org/officeDocument/2006/math">
                      <m:r>
                        <a:rPr lang="es-CO" i="1">
                          <a:latin typeface="Cambria Math" panose="02040503050406030204" pitchFamily="18" charset="0"/>
                        </a:rPr>
                        <m:t>𝑉</m:t>
                      </m:r>
                      <m:r>
                        <a:rPr lang="es-CO" i="1">
                          <a:latin typeface="Cambria Math" panose="02040503050406030204" pitchFamily="18" charset="0"/>
                        </a:rPr>
                        <m:t>=</m:t>
                      </m:r>
                      <m:sSub>
                        <m:sSubPr>
                          <m:ctrlPr>
                            <a:rPr lang="es-CO" i="1">
                              <a:latin typeface="Cambria Math" panose="02040503050406030204" pitchFamily="18" charset="0"/>
                            </a:rPr>
                          </m:ctrlPr>
                        </m:sSubPr>
                        <m:e>
                          <m:r>
                            <a:rPr lang="es-CO" i="1">
                              <a:latin typeface="Cambria Math" panose="02040503050406030204" pitchFamily="18" charset="0"/>
                            </a:rPr>
                            <m:t>∭</m:t>
                          </m:r>
                        </m:e>
                        <m:sub>
                          <m:r>
                            <a:rPr lang="es-CO" i="1">
                              <a:latin typeface="Cambria Math" panose="02040503050406030204" pitchFamily="18" charset="0"/>
                            </a:rPr>
                            <m:t>𝐸</m:t>
                          </m:r>
                        </m:sub>
                      </m:sSub>
                      <m:r>
                        <a:rPr lang="es-CO" i="1">
                          <a:latin typeface="Cambria Math" panose="02040503050406030204" pitchFamily="18" charset="0"/>
                        </a:rPr>
                        <m:t>𝑑𝑉</m:t>
                      </m:r>
                    </m:oMath>
                  </m:oMathPara>
                </a14:m>
                <a:endParaRPr lang="es-CO" kern="100" noProof="0" dirty="0">
                  <a:latin typeface="Times New Roman" panose="02020603050405020304" pitchFamily="18" charset="0"/>
                  <a:ea typeface="Tahoma" panose="020B0604030504040204" pitchFamily="34" charset="0"/>
                  <a:cs typeface="Arial" panose="020B0604020202020204" pitchFamily="34" charset="0"/>
                </a:endParaRPr>
              </a:p>
              <a:p>
                <a:br>
                  <a:rPr lang="es-MX" b="1"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br>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6" name="CuadroTexto 5">
                <a:extLst>
                  <a:ext uri="{FF2B5EF4-FFF2-40B4-BE49-F238E27FC236}">
                    <a16:creationId xmlns:a16="http://schemas.microsoft.com/office/drawing/2014/main" id="{B14A2F32-503C-8BB5-1C1B-C951029D2A91}"/>
                  </a:ext>
                </a:extLst>
              </p:cNvPr>
              <p:cNvSpPr txBox="1">
                <a:spLocks noRot="1" noChangeAspect="1" noMove="1" noResize="1" noEditPoints="1" noAdjustHandles="1" noChangeArrowheads="1" noChangeShapeType="1" noTextEdit="1"/>
              </p:cNvSpPr>
              <p:nvPr/>
            </p:nvSpPr>
            <p:spPr>
              <a:xfrm>
                <a:off x="312433" y="1489534"/>
                <a:ext cx="3307845" cy="2074094"/>
              </a:xfrm>
              <a:prstGeom prst="rect">
                <a:avLst/>
              </a:prstGeom>
              <a:blipFill>
                <a:blip r:embed="rId3"/>
                <a:stretch>
                  <a:fillRect l="-1473" t="-1466"/>
                </a:stretch>
              </a:blipFill>
            </p:spPr>
            <p:txBody>
              <a:bodyPr/>
              <a:lstStyle/>
              <a:p>
                <a:r>
                  <a:rPr lang="es-CO">
                    <a:noFill/>
                  </a:rPr>
                  <a:t> </a:t>
                </a:r>
              </a:p>
            </p:txBody>
          </p:sp>
        </mc:Fallback>
      </mc:AlternateContent>
      <p:sp>
        <p:nvSpPr>
          <p:cNvPr id="10" name="CuadroTexto 9">
            <a:extLst>
              <a:ext uri="{FF2B5EF4-FFF2-40B4-BE49-F238E27FC236}">
                <a16:creationId xmlns:a16="http://schemas.microsoft.com/office/drawing/2014/main" id="{14C18836-45E4-0014-3FC8-E4595C197160}"/>
              </a:ext>
            </a:extLst>
          </p:cNvPr>
          <p:cNvSpPr txBox="1"/>
          <p:nvPr/>
        </p:nvSpPr>
        <p:spPr>
          <a:xfrm>
            <a:off x="220762" y="3177072"/>
            <a:ext cx="4773601" cy="1109278"/>
          </a:xfrm>
          <a:prstGeom prst="rect">
            <a:avLst/>
          </a:prstGeom>
          <a:noFill/>
        </p:spPr>
        <p:txBody>
          <a:bodyPr wrap="square">
            <a:spAutoFit/>
          </a:bodyPr>
          <a:lstStyle/>
          <a:p>
            <a:pPr indent="457200">
              <a:lnSpc>
                <a:spcPct val="200000"/>
              </a:lnSpc>
              <a:spcAft>
                <a:spcPts val="800"/>
              </a:spcAft>
            </a:pPr>
            <a:r>
              <a:rPr lang="es-MX" sz="1800" kern="100" dirty="0">
                <a:effectLst/>
                <a:latin typeface="Tahoma" panose="020B0604030504040204" pitchFamily="34" charset="0"/>
                <a:ea typeface="Tahoma" panose="020B0604030504040204" pitchFamily="34" charset="0"/>
                <a:cs typeface="Tahoma" panose="020B0604030504040204" pitchFamily="34" charset="0"/>
              </a:rPr>
              <a:t>Para una esfera de radio R, el volumen del casquete se deduce como:</a:t>
            </a:r>
            <a:endParaRPr lang="es-CO" dirty="0">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53FCA656-D673-3279-929D-943BAC664A16}"/>
                  </a:ext>
                </a:extLst>
              </p:cNvPr>
              <p:cNvSpPr txBox="1"/>
              <p:nvPr/>
            </p:nvSpPr>
            <p:spPr>
              <a:xfrm>
                <a:off x="442961" y="4602263"/>
                <a:ext cx="3046788" cy="98677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CO" i="1">
                          <a:latin typeface="Cambria Math" panose="02040503050406030204" pitchFamily="18" charset="0"/>
                        </a:rPr>
                        <m:t>𝑉</m:t>
                      </m:r>
                      <m:r>
                        <a:rPr lang="es-CO" i="1">
                          <a:latin typeface="Cambria Math" panose="02040503050406030204" pitchFamily="18" charset="0"/>
                        </a:rPr>
                        <m:t>= </m:t>
                      </m:r>
                      <m:r>
                        <a:rPr lang="es-CO" i="1">
                          <a:latin typeface="Cambria Math" panose="02040503050406030204" pitchFamily="18" charset="0"/>
                        </a:rPr>
                        <m:t>𝜋</m:t>
                      </m:r>
                      <m:sSup>
                        <m:sSupPr>
                          <m:ctrlPr>
                            <a:rPr lang="es-CO" i="1">
                              <a:latin typeface="Cambria Math" panose="02040503050406030204" pitchFamily="18" charset="0"/>
                            </a:rPr>
                          </m:ctrlPr>
                        </m:sSupPr>
                        <m:e>
                          <m:r>
                            <a:rPr lang="es-CO" i="1">
                              <a:latin typeface="Cambria Math" panose="02040503050406030204" pitchFamily="18" charset="0"/>
                            </a:rPr>
                            <m:t>h</m:t>
                          </m:r>
                        </m:e>
                        <m:sup>
                          <m:r>
                            <a:rPr lang="es-CO" i="1">
                              <a:latin typeface="Cambria Math" panose="02040503050406030204" pitchFamily="18" charset="0"/>
                            </a:rPr>
                            <m:t>2</m:t>
                          </m:r>
                        </m:sup>
                      </m:sSup>
                      <m:d>
                        <m:dPr>
                          <m:ctrlPr>
                            <a:rPr lang="es-CO" i="1">
                              <a:latin typeface="Cambria Math" panose="02040503050406030204" pitchFamily="18" charset="0"/>
                            </a:rPr>
                          </m:ctrlPr>
                        </m:dPr>
                        <m:e>
                          <m:r>
                            <a:rPr lang="es-CO" i="1">
                              <a:latin typeface="Cambria Math" panose="02040503050406030204" pitchFamily="18" charset="0"/>
                            </a:rPr>
                            <m:t>𝑅</m:t>
                          </m:r>
                          <m:r>
                            <a:rPr lang="es-CO" i="1">
                              <a:latin typeface="Cambria Math" panose="02040503050406030204" pitchFamily="18" charset="0"/>
                            </a:rPr>
                            <m:t>−</m:t>
                          </m:r>
                          <m:f>
                            <m:fPr>
                              <m:ctrlPr>
                                <a:rPr lang="es-CO" i="1">
                                  <a:latin typeface="Cambria Math" panose="02040503050406030204" pitchFamily="18" charset="0"/>
                                </a:rPr>
                              </m:ctrlPr>
                            </m:fPr>
                            <m:num>
                              <m:r>
                                <a:rPr lang="es-CO" i="1">
                                  <a:latin typeface="Cambria Math" panose="02040503050406030204" pitchFamily="18" charset="0"/>
                                </a:rPr>
                                <m:t>h</m:t>
                              </m:r>
                            </m:num>
                            <m:den>
                              <m:r>
                                <a:rPr lang="es-CO" i="1">
                                  <a:latin typeface="Cambria Math" panose="02040503050406030204" pitchFamily="18" charset="0"/>
                                </a:rPr>
                                <m:t>3</m:t>
                              </m:r>
                            </m:den>
                          </m:f>
                        </m:e>
                      </m:d>
                    </m:oMath>
                  </m:oMathPara>
                </a14:m>
                <a:endParaRPr lang="es-CO" dirty="0"/>
              </a:p>
              <a:p>
                <a:endParaRPr lang="es-CO" dirty="0"/>
              </a:p>
            </p:txBody>
          </p:sp>
        </mc:Choice>
        <mc:Fallback xmlns="">
          <p:sp>
            <p:nvSpPr>
              <p:cNvPr id="12" name="CuadroTexto 11">
                <a:extLst>
                  <a:ext uri="{FF2B5EF4-FFF2-40B4-BE49-F238E27FC236}">
                    <a16:creationId xmlns:a16="http://schemas.microsoft.com/office/drawing/2014/main" id="{53FCA656-D673-3279-929D-943BAC664A16}"/>
                  </a:ext>
                </a:extLst>
              </p:cNvPr>
              <p:cNvSpPr txBox="1">
                <a:spLocks noRot="1" noChangeAspect="1" noMove="1" noResize="1" noEditPoints="1" noAdjustHandles="1" noChangeArrowheads="1" noChangeShapeType="1" noTextEdit="1"/>
              </p:cNvSpPr>
              <p:nvPr/>
            </p:nvSpPr>
            <p:spPr>
              <a:xfrm>
                <a:off x="442961" y="4602263"/>
                <a:ext cx="3046788" cy="986773"/>
              </a:xfrm>
              <a:prstGeom prst="rect">
                <a:avLst/>
              </a:prstGeom>
              <a:blipFill>
                <a:blip r:embed="rId4"/>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3294906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261053E-CA33-A780-A193-1AD1A9683F97}"/>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1EC50424-3A3C-94E7-AC87-B1FB6F491AFC}"/>
              </a:ext>
            </a:extLst>
          </p:cNvPr>
          <p:cNvSpPr txBox="1"/>
          <p:nvPr/>
        </p:nvSpPr>
        <p:spPr>
          <a:xfrm>
            <a:off x="312433" y="403892"/>
            <a:ext cx="8809081" cy="553998"/>
          </a:xfrm>
          <a:prstGeom prst="rect">
            <a:avLst/>
          </a:prstGeom>
          <a:noFill/>
        </p:spPr>
        <p:txBody>
          <a:bodyPr wrap="square" rtlCol="0">
            <a:spAutoFit/>
          </a:bodyPr>
          <a:lstStyle/>
          <a:p>
            <a:r>
              <a:rPr lang="es-CO" sz="3000" b="1" noProof="0" dirty="0">
                <a:solidFill>
                  <a:schemeClr val="bg1"/>
                </a:solidFill>
                <a:latin typeface="Tahoma" panose="020B0604030504040204" pitchFamily="34" charset="0"/>
                <a:ea typeface="Tahoma" panose="020B0604030504040204" pitchFamily="34" charset="0"/>
                <a:cs typeface="Tahoma" panose="020B0604030504040204" pitchFamily="34" charset="0"/>
              </a:rPr>
              <a:t>Herramientas de Desarrollo</a:t>
            </a:r>
          </a:p>
        </p:txBody>
      </p:sp>
      <p:pic>
        <p:nvPicPr>
          <p:cNvPr id="3" name="Picture 2">
            <a:extLst>
              <a:ext uri="{FF2B5EF4-FFF2-40B4-BE49-F238E27FC236}">
                <a16:creationId xmlns:a16="http://schemas.microsoft.com/office/drawing/2014/main" id="{84B362BD-7D69-9872-1149-27694BE5ACCE}"/>
              </a:ext>
            </a:extLst>
          </p:cNvPr>
          <p:cNvPicPr>
            <a:picLocks noChangeAspect="1" noChangeArrowheads="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5104707" y="1446415"/>
            <a:ext cx="1982585" cy="1982585"/>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FF26759E-E91D-803F-6BBD-E50EA52A1F31}"/>
              </a:ext>
            </a:extLst>
          </p:cNvPr>
          <p:cNvSpPr txBox="1"/>
          <p:nvPr/>
        </p:nvSpPr>
        <p:spPr>
          <a:xfrm>
            <a:off x="106309" y="3287585"/>
            <a:ext cx="4316062" cy="553998"/>
          </a:xfrm>
          <a:prstGeom prst="rect">
            <a:avLst/>
          </a:prstGeom>
          <a:noFill/>
        </p:spPr>
        <p:txBody>
          <a:bodyPr wrap="square">
            <a:spAutoFit/>
          </a:bodyPr>
          <a:lstStyle/>
          <a:p>
            <a:pPr indent="457200">
              <a:lnSpc>
                <a:spcPct val="200000"/>
              </a:lnSpc>
              <a:spcAft>
                <a:spcPts val="800"/>
              </a:spcAft>
            </a:pPr>
            <a:r>
              <a:rPr lang="es-MX" b="1" kern="100" dirty="0">
                <a:latin typeface="Tahoma" panose="020B0604030504040204" pitchFamily="34" charset="0"/>
                <a:ea typeface="Tahoma" panose="020B0604030504040204" pitchFamily="34" charset="0"/>
                <a:cs typeface="Tahoma" panose="020B0604030504040204" pitchFamily="34" charset="0"/>
              </a:rPr>
              <a:t>Lenguajes Implementados</a:t>
            </a:r>
            <a:r>
              <a:rPr lang="es-MX" sz="1800" b="1" kern="100" dirty="0">
                <a:effectLst/>
                <a:latin typeface="Tahoma" panose="020B0604030504040204" pitchFamily="34" charset="0"/>
                <a:ea typeface="Tahoma" panose="020B0604030504040204" pitchFamily="34" charset="0"/>
                <a:cs typeface="Tahoma" panose="020B0604030504040204" pitchFamily="34" charset="0"/>
              </a:rPr>
              <a:t>:</a:t>
            </a:r>
            <a:endParaRPr lang="es-CO" b="1" dirty="0">
              <a:latin typeface="Tahoma" panose="020B0604030504040204" pitchFamily="34" charset="0"/>
              <a:ea typeface="Tahoma" panose="020B0604030504040204" pitchFamily="34" charset="0"/>
              <a:cs typeface="Tahoma" panose="020B0604030504040204" pitchFamily="34" charset="0"/>
            </a:endParaRPr>
          </a:p>
        </p:txBody>
      </p:sp>
      <p:pic>
        <p:nvPicPr>
          <p:cNvPr id="1038" name="Picture 14" descr="C++ Logo for C/C++ Software Developer&quot; Pin for Sale by hellkni9ht |  Redbubble">
            <a:extLst>
              <a:ext uri="{FF2B5EF4-FFF2-40B4-BE49-F238E27FC236}">
                <a16:creationId xmlns:a16="http://schemas.microsoft.com/office/drawing/2014/main" id="{CE53C5E0-AFB8-5FDC-0F0D-1A7511F847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308" y="3917526"/>
            <a:ext cx="1937103" cy="2586132"/>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HTML - Wikipedia">
            <a:extLst>
              <a:ext uri="{FF2B5EF4-FFF2-40B4-BE49-F238E27FC236}">
                <a16:creationId xmlns:a16="http://schemas.microsoft.com/office/drawing/2014/main" id="{ADF0547E-9540-8521-6356-122AF15D9B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13500" y="4256852"/>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descr="Logotipo de Ajax, JavaScript, Jquery, Xml, asincronía, datos, organización,  programación de computadoras png | Klipartz">
            <a:extLst>
              <a:ext uri="{FF2B5EF4-FFF2-40B4-BE49-F238E27FC236}">
                <a16:creationId xmlns:a16="http://schemas.microsoft.com/office/drawing/2014/main" id="{FAD50776-8E5A-6E20-7ED8-02F37CB0DA6F}"/>
              </a:ext>
            </a:extLst>
          </p:cNvPr>
          <p:cNvPicPr>
            <a:picLocks noChangeAspect="1" noChangeArrowheads="1"/>
          </p:cNvPicPr>
          <p:nvPr/>
        </p:nvPicPr>
        <p:blipFill>
          <a:blip r:embed="rId6" cstate="screen">
            <a:extLst>
              <a:ext uri="{28A0092B-C50C-407E-A947-70E740481C1C}">
                <a14:useLocalDpi xmlns:a14="http://schemas.microsoft.com/office/drawing/2010/main" val="0"/>
              </a:ext>
            </a:extLst>
          </a:blip>
          <a:srcRect/>
          <a:stretch>
            <a:fillRect/>
          </a:stretch>
        </p:blipFill>
        <p:spPr bwMode="auto">
          <a:xfrm>
            <a:off x="5104707" y="4340429"/>
            <a:ext cx="3309592" cy="1740325"/>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descr="JavaScript Logo - símbolo, significado logotipo, historia, PNG">
            <a:extLst>
              <a:ext uri="{FF2B5EF4-FFF2-40B4-BE49-F238E27FC236}">
                <a16:creationId xmlns:a16="http://schemas.microsoft.com/office/drawing/2014/main" id="{69280E79-81AC-4D4A-0509-6400535931A1}"/>
              </a:ext>
            </a:extLst>
          </p:cNvPr>
          <p:cNvPicPr>
            <a:picLocks noChangeAspect="1" noChangeArrowheads="1"/>
          </p:cNvPicPr>
          <p:nvPr/>
        </p:nvPicPr>
        <p:blipFill>
          <a:blip r:embed="rId7" cstate="screen">
            <a:extLst>
              <a:ext uri="{28A0092B-C50C-407E-A947-70E740481C1C}">
                <a14:useLocalDpi xmlns:a14="http://schemas.microsoft.com/office/drawing/2010/main" val="0"/>
              </a:ext>
            </a:extLst>
          </a:blip>
          <a:srcRect/>
          <a:stretch>
            <a:fillRect/>
          </a:stretch>
        </p:blipFill>
        <p:spPr bwMode="auto">
          <a:xfrm>
            <a:off x="8070878" y="4448650"/>
            <a:ext cx="2815244" cy="1759528"/>
          </a:xfrm>
          <a:prstGeom prst="rect">
            <a:avLst/>
          </a:prstGeom>
          <a:noFill/>
          <a:extLst>
            <a:ext uri="{909E8E84-426E-40DD-AFC4-6F175D3DCCD1}">
              <a14:hiddenFill xmlns:a14="http://schemas.microsoft.com/office/drawing/2010/main">
                <a:solidFill>
                  <a:srgbClr val="FFFFFF"/>
                </a:solidFill>
              </a14:hiddenFill>
            </a:ext>
          </a:extLst>
        </p:spPr>
      </p:pic>
      <p:pic>
        <p:nvPicPr>
          <p:cNvPr id="1054" name="Picture 30" descr="CSS Logo - símbolo, significado logotipo, historia, PNG">
            <a:extLst>
              <a:ext uri="{FF2B5EF4-FFF2-40B4-BE49-F238E27FC236}">
                <a16:creationId xmlns:a16="http://schemas.microsoft.com/office/drawing/2014/main" id="{DA6CF723-4B66-6DDD-C73B-42A480D77FA4}"/>
              </a:ext>
            </a:extLst>
          </p:cNvPr>
          <p:cNvPicPr>
            <a:picLocks noChangeAspect="1" noChangeArrowheads="1"/>
          </p:cNvPicPr>
          <p:nvPr/>
        </p:nvPicPr>
        <p:blipFill>
          <a:blip r:embed="rId8" cstate="screen">
            <a:extLst>
              <a:ext uri="{28A0092B-C50C-407E-A947-70E740481C1C}">
                <a14:useLocalDpi xmlns:a14="http://schemas.microsoft.com/office/drawing/2010/main" val="0"/>
              </a:ext>
            </a:extLst>
          </a:blip>
          <a:srcRect/>
          <a:stretch>
            <a:fillRect/>
          </a:stretch>
        </p:blipFill>
        <p:spPr bwMode="auto">
          <a:xfrm>
            <a:off x="9677863" y="4467853"/>
            <a:ext cx="3071352" cy="1740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2457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FA77E8E-D7A1-F49B-A44A-AC64EFBCD2DF}"/>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EB8ED70A-B225-C028-7C3C-D08CA6033737}"/>
              </a:ext>
            </a:extLst>
          </p:cNvPr>
          <p:cNvSpPr txBox="1"/>
          <p:nvPr/>
        </p:nvSpPr>
        <p:spPr>
          <a:xfrm>
            <a:off x="1974376" y="3105834"/>
            <a:ext cx="8243248" cy="646331"/>
          </a:xfrm>
          <a:prstGeom prst="rect">
            <a:avLst/>
          </a:prstGeom>
          <a:noFill/>
        </p:spPr>
        <p:txBody>
          <a:bodyPr wrap="square" rtlCol="0">
            <a:spAutoFit/>
          </a:bodyPr>
          <a:lstStyle/>
          <a:p>
            <a:pPr algn="ctr"/>
            <a:r>
              <a:rPr lang="es-CO" sz="3600" b="1" noProof="0" dirty="0" err="1">
                <a:solidFill>
                  <a:schemeClr val="bg1"/>
                </a:solidFill>
                <a:latin typeface="Tahoma" panose="020B0604030504040204" pitchFamily="34" charset="0"/>
                <a:ea typeface="Tahoma" panose="020B0604030504040204" pitchFamily="34" charset="0"/>
                <a:cs typeface="Tahoma" panose="020B0604030504040204" pitchFamily="34" charset="0"/>
              </a:rPr>
              <a:t>Metodologia</a:t>
            </a:r>
            <a:r>
              <a:rPr lang="es-CO" sz="3600" b="1" noProof="0" dirty="0">
                <a:solidFill>
                  <a:schemeClr val="bg1"/>
                </a:solidFill>
                <a:latin typeface="Tahoma" panose="020B0604030504040204" pitchFamily="34" charset="0"/>
                <a:ea typeface="Tahoma" panose="020B0604030504040204" pitchFamily="34" charset="0"/>
                <a:cs typeface="Tahoma" panose="020B0604030504040204" pitchFamily="34" charset="0"/>
              </a:rPr>
              <a:t>  </a:t>
            </a:r>
          </a:p>
        </p:txBody>
      </p:sp>
    </p:spTree>
    <p:extLst>
      <p:ext uri="{BB962C8B-B14F-4D97-AF65-F5344CB8AC3E}">
        <p14:creationId xmlns:p14="http://schemas.microsoft.com/office/powerpoint/2010/main" val="1134385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28B596B-BB99-812B-5B40-B109B8E74776}"/>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012989F6-842E-E97F-30D6-CEEEDC9728FA}"/>
              </a:ext>
            </a:extLst>
          </p:cNvPr>
          <p:cNvSpPr txBox="1"/>
          <p:nvPr/>
        </p:nvSpPr>
        <p:spPr>
          <a:xfrm>
            <a:off x="251473" y="404038"/>
            <a:ext cx="8809081" cy="553998"/>
          </a:xfrm>
          <a:prstGeom prst="rect">
            <a:avLst/>
          </a:prstGeom>
          <a:noFill/>
        </p:spPr>
        <p:txBody>
          <a:bodyPr wrap="square" rtlCol="0">
            <a:spAutoFit/>
          </a:bodyPr>
          <a:lstStyle/>
          <a:p>
            <a:r>
              <a:rPr lang="es-CO" sz="3000" b="1" noProof="0" dirty="0">
                <a:solidFill>
                  <a:schemeClr val="bg1"/>
                </a:solidFill>
                <a:latin typeface="Tahoma" panose="020B0604030504040204" pitchFamily="34" charset="0"/>
                <a:ea typeface="Tahoma" panose="020B0604030504040204" pitchFamily="34" charset="0"/>
                <a:cs typeface="Tahoma" panose="020B0604030504040204" pitchFamily="34" charset="0"/>
              </a:rPr>
              <a:t>Metodología</a:t>
            </a:r>
          </a:p>
        </p:txBody>
      </p:sp>
      <p:sp>
        <p:nvSpPr>
          <p:cNvPr id="11" name="Marcador de contenido 10">
            <a:extLst>
              <a:ext uri="{FF2B5EF4-FFF2-40B4-BE49-F238E27FC236}">
                <a16:creationId xmlns:a16="http://schemas.microsoft.com/office/drawing/2014/main" id="{EE33845E-4458-0FC2-F9A8-778E35554266}"/>
              </a:ext>
            </a:extLst>
          </p:cNvPr>
          <p:cNvSpPr>
            <a:spLocks noGrp="1"/>
          </p:cNvSpPr>
          <p:nvPr>
            <p:ph idx="1"/>
          </p:nvPr>
        </p:nvSpPr>
        <p:spPr>
          <a:xfrm>
            <a:off x="579812" y="1659369"/>
            <a:ext cx="11041381" cy="3976660"/>
          </a:xfrm>
        </p:spPr>
        <p:txBody>
          <a:bodyPr>
            <a:noAutofit/>
          </a:bodyPr>
          <a:lstStyle/>
          <a:p>
            <a:pPr marL="0" indent="0">
              <a:buNone/>
            </a:pPr>
            <a:r>
              <a:rPr lang="es-MX" sz="1800" b="1" noProof="0" dirty="0">
                <a:latin typeface="Tahoma" panose="020B0604030504040204" pitchFamily="34" charset="0"/>
                <a:ea typeface="Tahoma" panose="020B0604030504040204" pitchFamily="34" charset="0"/>
                <a:cs typeface="Tahoma" panose="020B0604030504040204" pitchFamily="34" charset="0"/>
              </a:rPr>
              <a:t>Metodología Implementada: </a:t>
            </a:r>
            <a:r>
              <a:rPr lang="es-MX" sz="1800" noProof="0" dirty="0">
                <a:latin typeface="Tahoma" panose="020B0604030504040204" pitchFamily="34" charset="0"/>
                <a:ea typeface="Tahoma" panose="020B0604030504040204" pitchFamily="34" charset="0"/>
                <a:cs typeface="Tahoma" panose="020B0604030504040204" pitchFamily="34" charset="0"/>
              </a:rPr>
              <a:t>Desarrollo Incremental con Prototipado Evolutivo.</a:t>
            </a:r>
          </a:p>
          <a:p>
            <a:pPr marL="0" indent="0">
              <a:buNone/>
            </a:pPr>
            <a:endParaRPr lang="es-CO" sz="1800" noProof="0" dirty="0">
              <a:latin typeface="Tahoma" panose="020B0604030504040204" pitchFamily="34" charset="0"/>
              <a:ea typeface="Tahoma" panose="020B0604030504040204" pitchFamily="34" charset="0"/>
              <a:cs typeface="Tahoma" panose="020B0604030504040204" pitchFamily="34" charset="0"/>
            </a:endParaRPr>
          </a:p>
          <a:p>
            <a:r>
              <a:rPr lang="es-CO" sz="1800" b="1" noProof="0" dirty="0">
                <a:latin typeface="Tahoma" panose="020B0604030504040204" pitchFamily="34" charset="0"/>
                <a:ea typeface="Tahoma" panose="020B0604030504040204" pitchFamily="34" charset="0"/>
                <a:cs typeface="Tahoma" panose="020B0604030504040204" pitchFamily="34" charset="0"/>
              </a:rPr>
              <a:t>Análisis y Diseño </a:t>
            </a:r>
          </a:p>
          <a:p>
            <a:r>
              <a:rPr lang="es-MX" sz="1800" b="1" noProof="0" dirty="0">
                <a:latin typeface="Tahoma" panose="020B0604030504040204" pitchFamily="34" charset="0"/>
                <a:ea typeface="Tahoma" panose="020B0604030504040204" pitchFamily="34" charset="0"/>
                <a:cs typeface="Tahoma" panose="020B0604030504040204" pitchFamily="34" charset="0"/>
              </a:rPr>
              <a:t>Desarrollo Modular de los Componentes Matemáticos y Computacionales</a:t>
            </a:r>
          </a:p>
          <a:p>
            <a:r>
              <a:rPr lang="es-MX" sz="1800" b="1" noProof="0" dirty="0">
                <a:latin typeface="Tahoma" panose="020B0604030504040204" pitchFamily="34" charset="0"/>
                <a:ea typeface="Tahoma" panose="020B0604030504040204" pitchFamily="34" charset="0"/>
                <a:cs typeface="Tahoma" panose="020B0604030504040204" pitchFamily="34" charset="0"/>
              </a:rPr>
              <a:t>Construcción Incremental del Prototipo Físico</a:t>
            </a:r>
          </a:p>
          <a:p>
            <a:r>
              <a:rPr lang="es-MX" sz="1800" b="1" noProof="0" dirty="0">
                <a:latin typeface="Tahoma" panose="020B0604030504040204" pitchFamily="34" charset="0"/>
                <a:ea typeface="Tahoma" panose="020B0604030504040204" pitchFamily="34" charset="0"/>
                <a:cs typeface="Tahoma" panose="020B0604030504040204" pitchFamily="34" charset="0"/>
              </a:rPr>
              <a:t>Integración del Sistema de Medición</a:t>
            </a:r>
          </a:p>
          <a:p>
            <a:r>
              <a:rPr lang="es-MX" sz="1800" b="1" noProof="0" dirty="0">
                <a:latin typeface="Tahoma" panose="020B0604030504040204" pitchFamily="34" charset="0"/>
                <a:ea typeface="Tahoma" panose="020B0604030504040204" pitchFamily="34" charset="0"/>
                <a:cs typeface="Tahoma" panose="020B0604030504040204" pitchFamily="34" charset="0"/>
              </a:rPr>
              <a:t>Pruebas, Validación y Ajustes Progresivos</a:t>
            </a:r>
            <a:endParaRPr lang="es-CO" sz="1800" b="1" noProof="0" dirty="0">
              <a:latin typeface="Tahoma" panose="020B0604030504040204" pitchFamily="34" charset="0"/>
              <a:ea typeface="Tahoma" panose="020B0604030504040204" pitchFamily="34" charset="0"/>
              <a:cs typeface="Tahoma" panose="020B0604030504040204" pitchFamily="34" charset="0"/>
            </a:endParaRPr>
          </a:p>
        </p:txBody>
      </p:sp>
      <p:pic>
        <p:nvPicPr>
          <p:cNvPr id="2050" name="Picture 2" descr="GitHub - joseluisgs/EntornosDesarrollo-01-2023-2024: Entornos de Desarrollo  - 01 Desarrollo de Software. 1DAW. Curso 2023-2024">
            <a:extLst>
              <a:ext uri="{FF2B5EF4-FFF2-40B4-BE49-F238E27FC236}">
                <a16:creationId xmlns:a16="http://schemas.microsoft.com/office/drawing/2014/main" id="{476C9D6C-273B-5A70-5930-FBA0EC689F37}"/>
              </a:ext>
            </a:extLst>
          </p:cNvPr>
          <p:cNvPicPr>
            <a:picLocks noChangeAspect="1" noChangeArrowheads="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8424054" y="3536651"/>
            <a:ext cx="2709063" cy="2366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89143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50CC4F72-B0B1-C0A5-B66D-8E894462E14F}"/>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88CE478E-24BB-23C1-ED4C-9A5B254BFC98}"/>
              </a:ext>
            </a:extLst>
          </p:cNvPr>
          <p:cNvSpPr txBox="1"/>
          <p:nvPr/>
        </p:nvSpPr>
        <p:spPr>
          <a:xfrm>
            <a:off x="1974374" y="2967335"/>
            <a:ext cx="8243248" cy="646331"/>
          </a:xfrm>
          <a:prstGeom prst="rect">
            <a:avLst/>
          </a:prstGeom>
          <a:noFill/>
        </p:spPr>
        <p:txBody>
          <a:bodyPr wrap="square" rtlCol="0">
            <a:spAutoFit/>
          </a:bodyPr>
          <a:lstStyle/>
          <a:p>
            <a:pPr algn="ctr"/>
            <a:r>
              <a:rPr lang="es-CO" sz="3600" b="1" noProof="0" dirty="0">
                <a:solidFill>
                  <a:schemeClr val="bg1"/>
                </a:solidFill>
                <a:latin typeface="Tahoma" panose="020B0604030504040204" pitchFamily="34" charset="0"/>
                <a:ea typeface="Tahoma" panose="020B0604030504040204" pitchFamily="34" charset="0"/>
                <a:cs typeface="Tahoma" panose="020B0604030504040204" pitchFamily="34" charset="0"/>
              </a:rPr>
              <a:t>Procedimientos</a:t>
            </a:r>
            <a:endParaRPr lang="es-CO" b="1"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9338019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F4B6D54-FCC3-30A7-E11D-632A0BFC2EA0}"/>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13CEE65B-19DA-5089-15D8-505D52B09812}"/>
              </a:ext>
            </a:extLst>
          </p:cNvPr>
          <p:cNvSpPr txBox="1"/>
          <p:nvPr/>
        </p:nvSpPr>
        <p:spPr>
          <a:xfrm>
            <a:off x="312433" y="420517"/>
            <a:ext cx="8809081" cy="553998"/>
          </a:xfrm>
          <a:prstGeom prst="rect">
            <a:avLst/>
          </a:prstGeom>
          <a:noFill/>
        </p:spPr>
        <p:txBody>
          <a:bodyPr wrap="square" rtlCol="0">
            <a:spAutoFit/>
          </a:bodyPr>
          <a:lstStyle/>
          <a:p>
            <a:r>
              <a:rPr lang="es-CO" sz="3000" b="1" noProof="0" dirty="0">
                <a:solidFill>
                  <a:schemeClr val="bg1"/>
                </a:solidFill>
                <a:latin typeface="Tahoma" panose="020B0604030504040204" pitchFamily="34" charset="0"/>
                <a:ea typeface="Tahoma" panose="020B0604030504040204" pitchFamily="34" charset="0"/>
                <a:cs typeface="Tahoma" panose="020B0604030504040204" pitchFamily="34" charset="0"/>
              </a:rPr>
              <a:t>Procedimientos</a:t>
            </a:r>
          </a:p>
        </p:txBody>
      </p:sp>
      <p:sp>
        <p:nvSpPr>
          <p:cNvPr id="3" name="CuadroTexto 2">
            <a:extLst>
              <a:ext uri="{FF2B5EF4-FFF2-40B4-BE49-F238E27FC236}">
                <a16:creationId xmlns:a16="http://schemas.microsoft.com/office/drawing/2014/main" id="{F409BAD1-2195-235B-4C7E-804BA2E3DA68}"/>
              </a:ext>
            </a:extLst>
          </p:cNvPr>
          <p:cNvSpPr txBox="1"/>
          <p:nvPr/>
        </p:nvSpPr>
        <p:spPr>
          <a:xfrm>
            <a:off x="0" y="1350994"/>
            <a:ext cx="11776016" cy="2308324"/>
          </a:xfrm>
          <a:prstGeom prst="rect">
            <a:avLst/>
          </a:prstGeom>
          <a:noFill/>
        </p:spPr>
        <p:txBody>
          <a:bodyPr wrap="square">
            <a:spAutoFit/>
          </a:bodyPr>
          <a:lstStyle/>
          <a:p>
            <a:r>
              <a:rPr lang="es-MX" b="1"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Materiales: </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Esfera impresa en 3d, mangueras, válvulas de paso, materiales decorativos de estructuras.</a:t>
            </a:r>
          </a:p>
          <a:p>
            <a:endParaRPr lang="es-MX" b="1"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r>
              <a:rPr lang="es-MX" b="1"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Componentes electrónicos: </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Sensor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Hc</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sr04, relé 3.3v 110v, esp32, expansión de esp32, mini bomba,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Lcd</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16x2 i2cc, botón, cable tipo C, Cables principalmente hembra, y macho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macho</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y macho hembra y Batería recargable 9v.</a:t>
            </a:r>
          </a:p>
          <a:p>
            <a:endParaRPr lang="es-MX" b="1"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r>
              <a:rPr lang="es-MX" b="1"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Herramientas: </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1 Pistola de silicona, 1 Segueta, 1 Regla Metálica, 1 Lápiz, 1 Bisturí, 1 Piedra, 1 Multímetro, 1 Computador, 1 cable USB, Taladro.</a:t>
            </a:r>
          </a:p>
        </p:txBody>
      </p:sp>
      <p:pic>
        <p:nvPicPr>
          <p:cNvPr id="3074" name="Picture 2" descr="Máquinas y herramientas: los productos más vendidos en Internet">
            <a:extLst>
              <a:ext uri="{FF2B5EF4-FFF2-40B4-BE49-F238E27FC236}">
                <a16:creationId xmlns:a16="http://schemas.microsoft.com/office/drawing/2014/main" id="{103CCF8C-7DD3-C598-BC91-22389C568001}"/>
              </a:ext>
            </a:extLst>
          </p:cNvPr>
          <p:cNvPicPr>
            <a:picLocks noChangeAspect="1" noChangeArrowheads="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3511234" y="4500088"/>
            <a:ext cx="3537960" cy="2357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0123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B3E81CB-020E-276E-09EA-99FE89F751F3}"/>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F861794F-EBA5-0236-8ED7-C5CD28F60D73}"/>
              </a:ext>
            </a:extLst>
          </p:cNvPr>
          <p:cNvSpPr txBox="1"/>
          <p:nvPr/>
        </p:nvSpPr>
        <p:spPr>
          <a:xfrm>
            <a:off x="312433" y="420517"/>
            <a:ext cx="8809081" cy="553998"/>
          </a:xfrm>
          <a:prstGeom prst="rect">
            <a:avLst/>
          </a:prstGeom>
          <a:noFill/>
        </p:spPr>
        <p:txBody>
          <a:bodyPr wrap="square" rtlCol="0">
            <a:spAutoFit/>
          </a:bodyPr>
          <a:lstStyle/>
          <a:p>
            <a:r>
              <a:rPr lang="es-CO" sz="3000" b="1" noProof="0" dirty="0">
                <a:solidFill>
                  <a:schemeClr val="bg1"/>
                </a:solidFill>
                <a:latin typeface="Tahoma" panose="020B0604030504040204" pitchFamily="34" charset="0"/>
                <a:ea typeface="Tahoma" panose="020B0604030504040204" pitchFamily="34" charset="0"/>
                <a:cs typeface="Tahoma" panose="020B0604030504040204" pitchFamily="34" charset="0"/>
              </a:rPr>
              <a:t>Procedimientos</a:t>
            </a:r>
          </a:p>
        </p:txBody>
      </p:sp>
      <p:pic>
        <p:nvPicPr>
          <p:cNvPr id="4" name="Imagen 3" descr="Imagen que contiene interior, tabla, artículos, diversos&#10;&#10;El contenido generado por IA puede ser incorrecto.">
            <a:extLst>
              <a:ext uri="{FF2B5EF4-FFF2-40B4-BE49-F238E27FC236}">
                <a16:creationId xmlns:a16="http://schemas.microsoft.com/office/drawing/2014/main" id="{565E0DD6-1522-7424-6DAD-229D5D6B1FAE}"/>
              </a:ext>
            </a:extLst>
          </p:cNvPr>
          <p:cNvPicPr>
            <a:picLocks noChangeAspect="1"/>
          </p:cNvPicPr>
          <p:nvPr/>
        </p:nvPicPr>
        <p:blipFill>
          <a:blip r:embed="rId3" cstate="screen">
            <a:extLst>
              <a:ext uri="{28A0092B-C50C-407E-A947-70E740481C1C}">
                <a14:useLocalDpi xmlns:a14="http://schemas.microsoft.com/office/drawing/2010/main" val="0"/>
              </a:ext>
            </a:extLst>
          </a:blip>
          <a:srcRect/>
          <a:stretch>
            <a:fillRect/>
          </a:stretch>
        </p:blipFill>
        <p:spPr bwMode="auto">
          <a:xfrm rot="16200000">
            <a:off x="1338178" y="1455447"/>
            <a:ext cx="2632710" cy="3787775"/>
          </a:xfrm>
          <a:prstGeom prst="rect">
            <a:avLst/>
          </a:prstGeom>
          <a:noFill/>
          <a:ln>
            <a:noFill/>
          </a:ln>
        </p:spPr>
      </p:pic>
      <p:pic>
        <p:nvPicPr>
          <p:cNvPr id="5" name="Imagen 4" descr="Imagen que contiene interior, tabla, comida, mujer&#10;&#10;El contenido generado por IA puede ser incorrecto.">
            <a:extLst>
              <a:ext uri="{FF2B5EF4-FFF2-40B4-BE49-F238E27FC236}">
                <a16:creationId xmlns:a16="http://schemas.microsoft.com/office/drawing/2014/main" id="{43C14D4B-D965-6F1B-B212-8ED72212B0C2}"/>
              </a:ext>
            </a:extLst>
          </p:cNvPr>
          <p:cNvPicPr>
            <a:picLocks noChangeAspect="1"/>
          </p:cNvPicPr>
          <p:nvPr/>
        </p:nvPicPr>
        <p:blipFill>
          <a:blip r:embed="rId4" cstate="screen">
            <a:extLst>
              <a:ext uri="{28A0092B-C50C-407E-A947-70E740481C1C}">
                <a14:useLocalDpi xmlns:a14="http://schemas.microsoft.com/office/drawing/2010/main" val="0"/>
              </a:ext>
            </a:extLst>
          </a:blip>
          <a:srcRect/>
          <a:stretch>
            <a:fillRect/>
          </a:stretch>
        </p:blipFill>
        <p:spPr bwMode="auto">
          <a:xfrm>
            <a:off x="5928693" y="1986306"/>
            <a:ext cx="1533525" cy="2726055"/>
          </a:xfrm>
          <a:prstGeom prst="rect">
            <a:avLst/>
          </a:prstGeom>
          <a:noFill/>
          <a:ln>
            <a:noFill/>
          </a:ln>
        </p:spPr>
      </p:pic>
      <p:pic>
        <p:nvPicPr>
          <p:cNvPr id="10" name="Imagen 9">
            <a:extLst>
              <a:ext uri="{FF2B5EF4-FFF2-40B4-BE49-F238E27FC236}">
                <a16:creationId xmlns:a16="http://schemas.microsoft.com/office/drawing/2014/main" id="{927E0C8D-3DD5-A77C-D4C6-A9521EC290B1}"/>
              </a:ext>
            </a:extLst>
          </p:cNvPr>
          <p:cNvPicPr>
            <a:picLocks noChangeAspect="1"/>
          </p:cNvPicPr>
          <p:nvPr/>
        </p:nvPicPr>
        <p:blipFill>
          <a:blip r:embed="rId5" cstate="screen">
            <a:extLst>
              <a:ext uri="{28A0092B-C50C-407E-A947-70E740481C1C}">
                <a14:useLocalDpi xmlns:a14="http://schemas.microsoft.com/office/drawing/2010/main" val="0"/>
              </a:ext>
            </a:extLst>
          </a:blip>
          <a:srcRect/>
          <a:stretch>
            <a:fillRect/>
          </a:stretch>
        </p:blipFill>
        <p:spPr bwMode="auto">
          <a:xfrm>
            <a:off x="8709486" y="2193000"/>
            <a:ext cx="2952750" cy="2472690"/>
          </a:xfrm>
          <a:prstGeom prst="rect">
            <a:avLst/>
          </a:prstGeom>
          <a:noFill/>
          <a:ln>
            <a:noFill/>
          </a:ln>
        </p:spPr>
      </p:pic>
    </p:spTree>
    <p:extLst>
      <p:ext uri="{BB962C8B-B14F-4D97-AF65-F5344CB8AC3E}">
        <p14:creationId xmlns:p14="http://schemas.microsoft.com/office/powerpoint/2010/main" val="18165000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50665C2-3B75-0352-1917-E288F442C301}"/>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71F6D7E4-C46E-797F-435D-7127111131BE}"/>
              </a:ext>
            </a:extLst>
          </p:cNvPr>
          <p:cNvSpPr txBox="1"/>
          <p:nvPr/>
        </p:nvSpPr>
        <p:spPr>
          <a:xfrm>
            <a:off x="312433" y="420517"/>
            <a:ext cx="8809081" cy="553998"/>
          </a:xfrm>
          <a:prstGeom prst="rect">
            <a:avLst/>
          </a:prstGeom>
          <a:noFill/>
        </p:spPr>
        <p:txBody>
          <a:bodyPr wrap="square" rtlCol="0">
            <a:spAutoFit/>
          </a:bodyPr>
          <a:lstStyle/>
          <a:p>
            <a:r>
              <a:rPr lang="es-CO" sz="3000" b="1" noProof="0" dirty="0">
                <a:solidFill>
                  <a:schemeClr val="bg1"/>
                </a:solidFill>
                <a:latin typeface="Tahoma" panose="020B0604030504040204" pitchFamily="34" charset="0"/>
                <a:ea typeface="Tahoma" panose="020B0604030504040204" pitchFamily="34" charset="0"/>
                <a:cs typeface="Tahoma" panose="020B0604030504040204" pitchFamily="34" charset="0"/>
              </a:rPr>
              <a:t>Procedimientos</a:t>
            </a:r>
          </a:p>
        </p:txBody>
      </p:sp>
      <p:pic>
        <p:nvPicPr>
          <p:cNvPr id="3" name="Imagen 2" descr="Imagen que contiene interior, tabla, computer, computadora&#10;&#10;El contenido generado por IA puede ser incorrecto.">
            <a:extLst>
              <a:ext uri="{FF2B5EF4-FFF2-40B4-BE49-F238E27FC236}">
                <a16:creationId xmlns:a16="http://schemas.microsoft.com/office/drawing/2014/main" id="{377E4B1F-69F2-3D3C-8EBA-4773837AFCAA}"/>
              </a:ext>
            </a:extLst>
          </p:cNvPr>
          <p:cNvPicPr>
            <a:picLocks noChangeAspect="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504306" y="2422059"/>
            <a:ext cx="3156585" cy="2644775"/>
          </a:xfrm>
          <a:prstGeom prst="rect">
            <a:avLst/>
          </a:prstGeom>
          <a:noFill/>
          <a:ln>
            <a:noFill/>
          </a:ln>
        </p:spPr>
      </p:pic>
      <p:pic>
        <p:nvPicPr>
          <p:cNvPr id="6" name="Imagen 5" descr="Una persona sentada frente a una mesa con una computadora&#10;&#10;El contenido generado por IA puede ser incorrecto.">
            <a:extLst>
              <a:ext uri="{FF2B5EF4-FFF2-40B4-BE49-F238E27FC236}">
                <a16:creationId xmlns:a16="http://schemas.microsoft.com/office/drawing/2014/main" id="{2FB9B592-BB0B-1D06-7767-6FB724D882CC}"/>
              </a:ext>
            </a:extLst>
          </p:cNvPr>
          <p:cNvPicPr>
            <a:picLocks noChangeAspect="1"/>
          </p:cNvPicPr>
          <p:nvPr/>
        </p:nvPicPr>
        <p:blipFill>
          <a:blip r:embed="rId4" cstate="screen">
            <a:extLst>
              <a:ext uri="{28A0092B-C50C-407E-A947-70E740481C1C}">
                <a14:useLocalDpi xmlns:a14="http://schemas.microsoft.com/office/drawing/2010/main" val="0"/>
              </a:ext>
            </a:extLst>
          </a:blip>
          <a:srcRect/>
          <a:stretch>
            <a:fillRect/>
          </a:stretch>
        </p:blipFill>
        <p:spPr bwMode="auto">
          <a:xfrm>
            <a:off x="4286769" y="2442379"/>
            <a:ext cx="3133725" cy="2624455"/>
          </a:xfrm>
          <a:prstGeom prst="rect">
            <a:avLst/>
          </a:prstGeom>
          <a:noFill/>
          <a:ln>
            <a:noFill/>
          </a:ln>
        </p:spPr>
      </p:pic>
      <p:pic>
        <p:nvPicPr>
          <p:cNvPr id="8" name="Imagen 7" descr="Imagen que contiene tabla, interior, pastel, comida&#10;&#10;El contenido generado por IA puede ser incorrecto.">
            <a:extLst>
              <a:ext uri="{FF2B5EF4-FFF2-40B4-BE49-F238E27FC236}">
                <a16:creationId xmlns:a16="http://schemas.microsoft.com/office/drawing/2014/main" id="{F3CF6DF3-45C4-D052-4CCE-A647F76EFAC9}"/>
              </a:ext>
            </a:extLst>
          </p:cNvPr>
          <p:cNvPicPr>
            <a:picLocks noChangeAspect="1"/>
          </p:cNvPicPr>
          <p:nvPr/>
        </p:nvPicPr>
        <p:blipFill>
          <a:blip r:embed="rId5" cstate="screen">
            <a:extLst>
              <a:ext uri="{28A0092B-C50C-407E-A947-70E740481C1C}">
                <a14:useLocalDpi xmlns:a14="http://schemas.microsoft.com/office/drawing/2010/main" val="0"/>
              </a:ext>
            </a:extLst>
          </a:blip>
          <a:srcRect/>
          <a:stretch>
            <a:fillRect/>
          </a:stretch>
        </p:blipFill>
        <p:spPr bwMode="auto">
          <a:xfrm>
            <a:off x="7835812" y="2544296"/>
            <a:ext cx="4267200" cy="2400300"/>
          </a:xfrm>
          <a:prstGeom prst="rect">
            <a:avLst/>
          </a:prstGeom>
          <a:noFill/>
          <a:ln>
            <a:noFill/>
          </a:ln>
        </p:spPr>
      </p:pic>
    </p:spTree>
    <p:extLst>
      <p:ext uri="{BB962C8B-B14F-4D97-AF65-F5344CB8AC3E}">
        <p14:creationId xmlns:p14="http://schemas.microsoft.com/office/powerpoint/2010/main" val="24825777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95190D8-AD60-3196-F317-BCA195B6EAF2}"/>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015C5250-6392-82FC-3934-D1CA2A5DC1AA}"/>
              </a:ext>
            </a:extLst>
          </p:cNvPr>
          <p:cNvSpPr txBox="1"/>
          <p:nvPr/>
        </p:nvSpPr>
        <p:spPr>
          <a:xfrm>
            <a:off x="312433" y="420517"/>
            <a:ext cx="8809081" cy="553998"/>
          </a:xfrm>
          <a:prstGeom prst="rect">
            <a:avLst/>
          </a:prstGeom>
          <a:noFill/>
        </p:spPr>
        <p:txBody>
          <a:bodyPr wrap="square" rtlCol="0">
            <a:spAutoFit/>
          </a:bodyPr>
          <a:lstStyle/>
          <a:p>
            <a:r>
              <a:rPr lang="es-CO" sz="3000" b="1" noProof="0" dirty="0">
                <a:solidFill>
                  <a:schemeClr val="bg1"/>
                </a:solidFill>
                <a:latin typeface="Tahoma" panose="020B0604030504040204" pitchFamily="34" charset="0"/>
                <a:ea typeface="Tahoma" panose="020B0604030504040204" pitchFamily="34" charset="0"/>
                <a:cs typeface="Tahoma" panose="020B0604030504040204" pitchFamily="34" charset="0"/>
              </a:rPr>
              <a:t>Procedimientos</a:t>
            </a:r>
          </a:p>
        </p:txBody>
      </p:sp>
      <p:pic>
        <p:nvPicPr>
          <p:cNvPr id="4" name="Imagen 3">
            <a:extLst>
              <a:ext uri="{FF2B5EF4-FFF2-40B4-BE49-F238E27FC236}">
                <a16:creationId xmlns:a16="http://schemas.microsoft.com/office/drawing/2014/main" id="{481FE390-6DC8-D169-6F99-77608FF35F62}"/>
              </a:ext>
            </a:extLst>
          </p:cNvPr>
          <p:cNvPicPr>
            <a:picLocks noChangeAspect="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312433" y="2416954"/>
            <a:ext cx="3886200" cy="3254375"/>
          </a:xfrm>
          <a:prstGeom prst="rect">
            <a:avLst/>
          </a:prstGeom>
          <a:noFill/>
          <a:ln>
            <a:noFill/>
          </a:ln>
        </p:spPr>
      </p:pic>
      <p:pic>
        <p:nvPicPr>
          <p:cNvPr id="5" name="Imagen 4">
            <a:extLst>
              <a:ext uri="{FF2B5EF4-FFF2-40B4-BE49-F238E27FC236}">
                <a16:creationId xmlns:a16="http://schemas.microsoft.com/office/drawing/2014/main" id="{6420466E-A9B8-BE98-453A-B6C1A1DE6F21}"/>
              </a:ext>
            </a:extLst>
          </p:cNvPr>
          <p:cNvPicPr>
            <a:picLocks noChangeAspect="1"/>
          </p:cNvPicPr>
          <p:nvPr/>
        </p:nvPicPr>
        <p:blipFill>
          <a:blip r:embed="rId4" cstate="screen">
            <a:extLst>
              <a:ext uri="{28A0092B-C50C-407E-A947-70E740481C1C}">
                <a14:useLocalDpi xmlns:a14="http://schemas.microsoft.com/office/drawing/2010/main" val="0"/>
              </a:ext>
            </a:extLst>
          </a:blip>
          <a:srcRect/>
          <a:stretch>
            <a:fillRect/>
          </a:stretch>
        </p:blipFill>
        <p:spPr bwMode="auto">
          <a:xfrm>
            <a:off x="4716973" y="2448703"/>
            <a:ext cx="3810000" cy="3190875"/>
          </a:xfrm>
          <a:prstGeom prst="rect">
            <a:avLst/>
          </a:prstGeom>
          <a:noFill/>
          <a:ln>
            <a:noFill/>
          </a:ln>
        </p:spPr>
      </p:pic>
      <p:pic>
        <p:nvPicPr>
          <p:cNvPr id="7" name="Imagen 6">
            <a:extLst>
              <a:ext uri="{FF2B5EF4-FFF2-40B4-BE49-F238E27FC236}">
                <a16:creationId xmlns:a16="http://schemas.microsoft.com/office/drawing/2014/main" id="{280F5D79-0743-FE43-CA61-D1024F49E47F}"/>
              </a:ext>
            </a:extLst>
          </p:cNvPr>
          <p:cNvPicPr>
            <a:picLocks noChangeAspect="1"/>
          </p:cNvPicPr>
          <p:nvPr/>
        </p:nvPicPr>
        <p:blipFill>
          <a:blip r:embed="rId5" cstate="screen">
            <a:extLst>
              <a:ext uri="{28A0092B-C50C-407E-A947-70E740481C1C}">
                <a14:useLocalDpi xmlns:a14="http://schemas.microsoft.com/office/drawing/2010/main" val="0"/>
              </a:ext>
            </a:extLst>
          </a:blip>
          <a:srcRect/>
          <a:stretch>
            <a:fillRect/>
          </a:stretch>
        </p:blipFill>
        <p:spPr bwMode="auto">
          <a:xfrm>
            <a:off x="8678487" y="3096137"/>
            <a:ext cx="3513513" cy="1805420"/>
          </a:xfrm>
          <a:prstGeom prst="rect">
            <a:avLst/>
          </a:prstGeom>
          <a:noFill/>
          <a:ln>
            <a:noFill/>
          </a:ln>
        </p:spPr>
      </p:pic>
    </p:spTree>
    <p:extLst>
      <p:ext uri="{BB962C8B-B14F-4D97-AF65-F5344CB8AC3E}">
        <p14:creationId xmlns:p14="http://schemas.microsoft.com/office/powerpoint/2010/main" val="32633543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40A8CBE-53AC-4B5B-BD75-DCF99DD3F88D}"/>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33BA2C72-00B0-8DEE-D774-9D95B5885E63}"/>
              </a:ext>
            </a:extLst>
          </p:cNvPr>
          <p:cNvSpPr txBox="1"/>
          <p:nvPr/>
        </p:nvSpPr>
        <p:spPr>
          <a:xfrm>
            <a:off x="312433" y="420517"/>
            <a:ext cx="8809081" cy="553998"/>
          </a:xfrm>
          <a:prstGeom prst="rect">
            <a:avLst/>
          </a:prstGeom>
          <a:noFill/>
        </p:spPr>
        <p:txBody>
          <a:bodyPr wrap="square" rtlCol="0">
            <a:spAutoFit/>
          </a:bodyPr>
          <a:lstStyle/>
          <a:p>
            <a:r>
              <a:rPr lang="es-CO" sz="3000" b="1" noProof="0" dirty="0">
                <a:solidFill>
                  <a:schemeClr val="bg1"/>
                </a:solidFill>
                <a:latin typeface="Tahoma" panose="020B0604030504040204" pitchFamily="34" charset="0"/>
                <a:ea typeface="Tahoma" panose="020B0604030504040204" pitchFamily="34" charset="0"/>
                <a:cs typeface="Tahoma" panose="020B0604030504040204" pitchFamily="34" charset="0"/>
              </a:rPr>
              <a:t>Procedimientos</a:t>
            </a:r>
          </a:p>
        </p:txBody>
      </p:sp>
      <p:pic>
        <p:nvPicPr>
          <p:cNvPr id="3" name="Imagen 2">
            <a:extLst>
              <a:ext uri="{FF2B5EF4-FFF2-40B4-BE49-F238E27FC236}">
                <a16:creationId xmlns:a16="http://schemas.microsoft.com/office/drawing/2014/main" id="{98937FE7-85A3-C9E6-D20E-DFF33970FAA2}"/>
              </a:ext>
            </a:extLst>
          </p:cNvPr>
          <p:cNvPicPr>
            <a:picLocks noChangeAspect="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971839" y="1956694"/>
            <a:ext cx="1736090" cy="3476625"/>
          </a:xfrm>
          <a:prstGeom prst="rect">
            <a:avLst/>
          </a:prstGeom>
          <a:noFill/>
          <a:ln>
            <a:noFill/>
          </a:ln>
        </p:spPr>
      </p:pic>
      <p:pic>
        <p:nvPicPr>
          <p:cNvPr id="6" name="Imagen 5" descr="Interfaz de usuario gráfica&#10;&#10;El contenido generado por IA puede ser incorrecto.">
            <a:extLst>
              <a:ext uri="{FF2B5EF4-FFF2-40B4-BE49-F238E27FC236}">
                <a16:creationId xmlns:a16="http://schemas.microsoft.com/office/drawing/2014/main" id="{4010C67D-8BF7-895E-ABCB-2E83E0355006}"/>
              </a:ext>
            </a:extLst>
          </p:cNvPr>
          <p:cNvPicPr>
            <a:picLocks noChangeAspect="1"/>
          </p:cNvPicPr>
          <p:nvPr/>
        </p:nvPicPr>
        <p:blipFill>
          <a:blip r:embed="rId4" cstate="screen">
            <a:extLst>
              <a:ext uri="{28A0092B-C50C-407E-A947-70E740481C1C}">
                <a14:useLocalDpi xmlns:a14="http://schemas.microsoft.com/office/drawing/2010/main" val="0"/>
              </a:ext>
            </a:extLst>
          </a:blip>
          <a:srcRect/>
          <a:stretch>
            <a:fillRect/>
          </a:stretch>
        </p:blipFill>
        <p:spPr bwMode="auto">
          <a:xfrm>
            <a:off x="3429866" y="2405321"/>
            <a:ext cx="4667250" cy="2579370"/>
          </a:xfrm>
          <a:prstGeom prst="rect">
            <a:avLst/>
          </a:prstGeom>
          <a:noFill/>
          <a:ln>
            <a:noFill/>
          </a:ln>
        </p:spPr>
      </p:pic>
      <p:pic>
        <p:nvPicPr>
          <p:cNvPr id="8" name="Imagen 7" descr="Gráfico, Gráfico de embudo&#10;&#10;El contenido generado por IA puede ser incorrecto.">
            <a:extLst>
              <a:ext uri="{FF2B5EF4-FFF2-40B4-BE49-F238E27FC236}">
                <a16:creationId xmlns:a16="http://schemas.microsoft.com/office/drawing/2014/main" id="{3F0E3F08-14D2-AB8E-9562-1ECD4C956956}"/>
              </a:ext>
            </a:extLst>
          </p:cNvPr>
          <p:cNvPicPr>
            <a:picLocks noChangeAspect="1"/>
          </p:cNvPicPr>
          <p:nvPr/>
        </p:nvPicPr>
        <p:blipFill>
          <a:blip r:embed="rId5" cstate="screen">
            <a:extLst>
              <a:ext uri="{28A0092B-C50C-407E-A947-70E740481C1C}">
                <a14:useLocalDpi xmlns:a14="http://schemas.microsoft.com/office/drawing/2010/main" val="0"/>
              </a:ext>
            </a:extLst>
          </a:blip>
          <a:srcRect/>
          <a:stretch>
            <a:fillRect/>
          </a:stretch>
        </p:blipFill>
        <p:spPr bwMode="auto">
          <a:xfrm>
            <a:off x="9317817" y="2080593"/>
            <a:ext cx="2037369" cy="3352726"/>
          </a:xfrm>
          <a:prstGeom prst="rect">
            <a:avLst/>
          </a:prstGeom>
          <a:noFill/>
          <a:ln>
            <a:noFill/>
          </a:ln>
        </p:spPr>
      </p:pic>
    </p:spTree>
    <p:extLst>
      <p:ext uri="{BB962C8B-B14F-4D97-AF65-F5344CB8AC3E}">
        <p14:creationId xmlns:p14="http://schemas.microsoft.com/office/powerpoint/2010/main" val="23449236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435C554-2132-1B4E-D5D5-D5C183118BC3}"/>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6E6E69F4-5FDA-A555-32CA-2B5D993C1716}"/>
              </a:ext>
            </a:extLst>
          </p:cNvPr>
          <p:cNvSpPr txBox="1"/>
          <p:nvPr/>
        </p:nvSpPr>
        <p:spPr>
          <a:xfrm>
            <a:off x="1974374" y="2967335"/>
            <a:ext cx="8243248" cy="646331"/>
          </a:xfrm>
          <a:prstGeom prst="rect">
            <a:avLst/>
          </a:prstGeom>
          <a:noFill/>
        </p:spPr>
        <p:txBody>
          <a:bodyPr wrap="square" rtlCol="0">
            <a:spAutoFit/>
          </a:bodyPr>
          <a:lstStyle/>
          <a:p>
            <a:pPr algn="ctr"/>
            <a:r>
              <a:rPr lang="es-CO" sz="3600" b="1" noProof="0" dirty="0">
                <a:solidFill>
                  <a:schemeClr val="bg1"/>
                </a:solidFill>
                <a:latin typeface="Tahoma" panose="020B0604030504040204" pitchFamily="34" charset="0"/>
                <a:ea typeface="Tahoma" panose="020B0604030504040204" pitchFamily="34" charset="0"/>
                <a:cs typeface="Tahoma" panose="020B0604030504040204" pitchFamily="34" charset="0"/>
              </a:rPr>
              <a:t>Resultados</a:t>
            </a:r>
          </a:p>
        </p:txBody>
      </p:sp>
    </p:spTree>
    <p:extLst>
      <p:ext uri="{BB962C8B-B14F-4D97-AF65-F5344CB8AC3E}">
        <p14:creationId xmlns:p14="http://schemas.microsoft.com/office/powerpoint/2010/main" val="34067392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672578D2-EECB-7D84-AB82-FC848EE04B99}"/>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528E3EAD-5C38-83B4-3859-B92A714DBBEB}"/>
              </a:ext>
            </a:extLst>
          </p:cNvPr>
          <p:cNvSpPr txBox="1"/>
          <p:nvPr/>
        </p:nvSpPr>
        <p:spPr>
          <a:xfrm>
            <a:off x="312433" y="420517"/>
            <a:ext cx="8809081" cy="553998"/>
          </a:xfrm>
          <a:prstGeom prst="rect">
            <a:avLst/>
          </a:prstGeom>
          <a:noFill/>
        </p:spPr>
        <p:txBody>
          <a:bodyPr wrap="square" rtlCol="0">
            <a:spAutoFit/>
          </a:bodyPr>
          <a:lstStyle/>
          <a:p>
            <a:r>
              <a:rPr lang="es-CO" sz="3000" b="1" noProof="0" dirty="0">
                <a:solidFill>
                  <a:schemeClr val="bg1"/>
                </a:solidFill>
                <a:latin typeface="Tahoma" panose="020B0604030504040204" pitchFamily="34" charset="0"/>
                <a:ea typeface="Tahoma" panose="020B0604030504040204" pitchFamily="34" charset="0"/>
                <a:cs typeface="Tahoma" panose="020B0604030504040204" pitchFamily="34" charset="0"/>
              </a:rPr>
              <a:t>Resultados</a:t>
            </a:r>
          </a:p>
        </p:txBody>
      </p:sp>
      <p:sp>
        <p:nvSpPr>
          <p:cNvPr id="4" name="CuadroTexto 3">
            <a:extLst>
              <a:ext uri="{FF2B5EF4-FFF2-40B4-BE49-F238E27FC236}">
                <a16:creationId xmlns:a16="http://schemas.microsoft.com/office/drawing/2014/main" id="{9054931F-EBB9-0D03-94D8-85ADF0C0A778}"/>
              </a:ext>
            </a:extLst>
          </p:cNvPr>
          <p:cNvSpPr txBox="1"/>
          <p:nvPr/>
        </p:nvSpPr>
        <p:spPr>
          <a:xfrm>
            <a:off x="0" y="1350994"/>
            <a:ext cx="11776016" cy="369332"/>
          </a:xfrm>
          <a:prstGeom prst="rect">
            <a:avLst/>
          </a:prstGeom>
          <a:noFill/>
        </p:spPr>
        <p:txBody>
          <a:bodyPr wrap="square">
            <a:spAutoFit/>
          </a:bodyPr>
          <a:lstStyle/>
          <a:p>
            <a:r>
              <a:rPr lang="es-MX" b="1"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Cálculo de la Integral triple en coordenadas esféricas:</a:t>
            </a:r>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25D0E063-C6C7-9C6D-1FB4-EAF7B11EBC87}"/>
                  </a:ext>
                </a:extLst>
              </p:cNvPr>
              <p:cNvSpPr txBox="1"/>
              <p:nvPr/>
            </p:nvSpPr>
            <p:spPr>
              <a:xfrm>
                <a:off x="-465512" y="1966644"/>
                <a:ext cx="6118166" cy="4470839"/>
              </a:xfrm>
              <a:prstGeom prst="rect">
                <a:avLst/>
              </a:prstGeom>
              <a:noFill/>
            </p:spPr>
            <p:txBody>
              <a:bodyPr wrap="square">
                <a:spAutoFit/>
              </a:bodyPr>
              <a:lstStyle/>
              <a:p>
                <a:pPr>
                  <a:lnSpc>
                    <a:spcPct val="115000"/>
                  </a:lnSpc>
                  <a:spcAft>
                    <a:spcPts val="800"/>
                  </a:spcAft>
                  <a:buNone/>
                </a:pPr>
                <a14:m>
                  <m:oMathPara xmlns:m="http://schemas.openxmlformats.org/officeDocument/2006/math">
                    <m:oMathParaPr>
                      <m:jc m:val="centerGroup"/>
                    </m:oMathParaPr>
                    <m:oMath xmlns:m="http://schemas.openxmlformats.org/officeDocument/2006/math">
                      <m:nary>
                        <m:naryPr>
                          <m:limLoc m:val="subSup"/>
                          <m:ctrlPr>
                            <a:rPr lang="es-CO" sz="1800" i="1" kern="100" smtClean="0">
                              <a:effectLst/>
                              <a:latin typeface="Cambria Math" panose="02040503050406030204" pitchFamily="18" charset="0"/>
                              <a:ea typeface="Aptos" panose="020B0004020202020204" pitchFamily="34" charset="0"/>
                              <a:cs typeface="Arial" panose="020B0604020202020204" pitchFamily="34" charset="0"/>
                            </a:rPr>
                          </m:ctrlPr>
                        </m:naryPr>
                        <m:sub>
                          <m:r>
                            <a:rPr lang="es-CO" sz="1800" i="1" kern="100">
                              <a:effectLst/>
                              <a:latin typeface="Cambria Math" panose="02040503050406030204" pitchFamily="18" charset="0"/>
                              <a:ea typeface="Aptos" panose="020B0004020202020204" pitchFamily="34" charset="0"/>
                              <a:cs typeface="Arial" panose="020B0604020202020204" pitchFamily="34" charset="0"/>
                            </a:rPr>
                            <m:t>0</m:t>
                          </m:r>
                        </m:sub>
                        <m:sup>
                          <m:r>
                            <a:rPr lang="es-CO" sz="1800" i="1" kern="100">
                              <a:effectLst/>
                              <a:latin typeface="Cambria Math" panose="02040503050406030204" pitchFamily="18" charset="0"/>
                              <a:ea typeface="Aptos" panose="020B0004020202020204" pitchFamily="34" charset="0"/>
                              <a:cs typeface="Arial" panose="020B0604020202020204" pitchFamily="34" charset="0"/>
                            </a:rPr>
                            <m:t>2</m:t>
                          </m:r>
                          <m:r>
                            <a:rPr lang="es-CO" sz="1800" i="1" kern="100">
                              <a:effectLst/>
                              <a:latin typeface="Cambria Math" panose="02040503050406030204" pitchFamily="18" charset="0"/>
                              <a:ea typeface="Aptos" panose="020B0004020202020204" pitchFamily="34" charset="0"/>
                              <a:cs typeface="Arial" panose="020B0604020202020204" pitchFamily="34" charset="0"/>
                            </a:rPr>
                            <m:t>𝜋</m:t>
                          </m:r>
                        </m:sup>
                        <m:e>
                          <m:nary>
                            <m:naryPr>
                              <m:limLoc m:val="subSup"/>
                              <m:ctrlPr>
                                <a:rPr lang="es-CO" sz="1800" i="1" kern="100">
                                  <a:effectLst/>
                                  <a:latin typeface="Cambria Math" panose="02040503050406030204" pitchFamily="18" charset="0"/>
                                  <a:ea typeface="Aptos" panose="020B0004020202020204" pitchFamily="34" charset="0"/>
                                  <a:cs typeface="Arial" panose="020B0604020202020204" pitchFamily="34" charset="0"/>
                                </a:rPr>
                              </m:ctrlPr>
                            </m:naryPr>
                            <m:sub>
                              <m:r>
                                <a:rPr lang="es-CO" sz="1800" i="1" kern="100">
                                  <a:effectLst/>
                                  <a:latin typeface="Cambria Math" panose="02040503050406030204" pitchFamily="18" charset="0"/>
                                  <a:ea typeface="Aptos" panose="020B0004020202020204" pitchFamily="34" charset="0"/>
                                  <a:cs typeface="Arial" panose="020B0604020202020204" pitchFamily="34" charset="0"/>
                                </a:rPr>
                                <m:t>2</m:t>
                              </m:r>
                            </m:sub>
                            <m:sup>
                              <m:r>
                                <a:rPr lang="es-CO" sz="1800" i="1" kern="100">
                                  <a:effectLst/>
                                  <a:latin typeface="Cambria Math" panose="02040503050406030204" pitchFamily="18" charset="0"/>
                                  <a:ea typeface="Aptos" panose="020B0004020202020204" pitchFamily="34" charset="0"/>
                                  <a:cs typeface="Arial" panose="020B0604020202020204" pitchFamily="34" charset="0"/>
                                </a:rPr>
                                <m:t>𝜋</m:t>
                              </m:r>
                            </m:sup>
                            <m:e>
                              <m:nary>
                                <m:naryPr>
                                  <m:limLoc m:val="subSup"/>
                                  <m:ctrlPr>
                                    <a:rPr lang="es-CO" sz="1800" i="1" kern="100">
                                      <a:effectLst/>
                                      <a:latin typeface="Cambria Math" panose="02040503050406030204" pitchFamily="18" charset="0"/>
                                      <a:ea typeface="Aptos" panose="020B0004020202020204" pitchFamily="34" charset="0"/>
                                      <a:cs typeface="Arial" panose="020B0604020202020204" pitchFamily="34" charset="0"/>
                                    </a:rPr>
                                  </m:ctrlPr>
                                </m:naryPr>
                                <m:sub>
                                  <m:r>
                                    <a:rPr lang="es-CO" sz="1800" i="1" kern="100">
                                      <a:effectLst/>
                                      <a:latin typeface="Cambria Math" panose="02040503050406030204" pitchFamily="18" charset="0"/>
                                      <a:ea typeface="Aptos" panose="020B0004020202020204" pitchFamily="34" charset="0"/>
                                      <a:cs typeface="Arial" panose="020B0604020202020204" pitchFamily="34" charset="0"/>
                                    </a:rPr>
                                    <m:t>0</m:t>
                                  </m:r>
                                </m:sub>
                                <m:sup>
                                  <m:r>
                                    <a:rPr lang="es-CO" sz="1800" i="1" kern="100">
                                      <a:effectLst/>
                                      <a:latin typeface="Cambria Math" panose="02040503050406030204" pitchFamily="18" charset="0"/>
                                      <a:ea typeface="Aptos" panose="020B0004020202020204" pitchFamily="34" charset="0"/>
                                      <a:cs typeface="Arial" panose="020B0604020202020204" pitchFamily="34" charset="0"/>
                                    </a:rPr>
                                    <m:t>𝑅</m:t>
                                  </m:r>
                                </m:sup>
                                <m:e>
                                  <m:sSup>
                                    <m:sSupPr>
                                      <m:ctrlPr>
                                        <a:rPr lang="es-CO" sz="1800" i="1" kern="100">
                                          <a:effectLst/>
                                          <a:latin typeface="Cambria Math" panose="02040503050406030204" pitchFamily="18" charset="0"/>
                                          <a:ea typeface="Aptos" panose="020B0004020202020204" pitchFamily="34" charset="0"/>
                                          <a:cs typeface="Arial" panose="020B0604020202020204" pitchFamily="34" charset="0"/>
                                        </a:rPr>
                                      </m:ctrlPr>
                                    </m:sSupPr>
                                    <m:e>
                                      <m:r>
                                        <a:rPr lang="es-CO" sz="1800" i="1" kern="100">
                                          <a:effectLst/>
                                          <a:latin typeface="Cambria Math" panose="02040503050406030204" pitchFamily="18" charset="0"/>
                                          <a:ea typeface="Aptos" panose="020B0004020202020204" pitchFamily="34" charset="0"/>
                                          <a:cs typeface="Arial" panose="020B0604020202020204" pitchFamily="34" charset="0"/>
                                        </a:rPr>
                                        <m:t>𝑃</m:t>
                                      </m:r>
                                    </m:e>
                                    <m:sup>
                                      <m:r>
                                        <a:rPr lang="es-CO" sz="1800" i="1" kern="100">
                                          <a:effectLst/>
                                          <a:latin typeface="Cambria Math" panose="02040503050406030204" pitchFamily="18" charset="0"/>
                                          <a:ea typeface="Aptos" panose="020B0004020202020204" pitchFamily="34" charset="0"/>
                                          <a:cs typeface="Arial" panose="020B0604020202020204" pitchFamily="34" charset="0"/>
                                        </a:rPr>
                                        <m:t>2</m:t>
                                      </m:r>
                                    </m:sup>
                                  </m:sSup>
                                </m:e>
                              </m:nary>
                            </m:e>
                          </m:nary>
                        </m:e>
                      </m:nary>
                      <m:func>
                        <m:funcPr>
                          <m:ctrlPr>
                            <a:rPr lang="es-CO" sz="1800" i="1" kern="100">
                              <a:effectLst/>
                              <a:latin typeface="Cambria Math" panose="02040503050406030204" pitchFamily="18" charset="0"/>
                              <a:ea typeface="Aptos" panose="020B0004020202020204" pitchFamily="34" charset="0"/>
                              <a:cs typeface="Arial" panose="020B0604020202020204" pitchFamily="34" charset="0"/>
                            </a:rPr>
                          </m:ctrlPr>
                        </m:funcPr>
                        <m:fName>
                          <m:r>
                            <m:rPr>
                              <m:sty m:val="p"/>
                            </m:rPr>
                            <a:rPr lang="es-CO" sz="1800" kern="100">
                              <a:effectLst/>
                              <a:latin typeface="Cambria Math" panose="02040503050406030204" pitchFamily="18" charset="0"/>
                              <a:ea typeface="Aptos" panose="020B0004020202020204" pitchFamily="34" charset="0"/>
                              <a:cs typeface="Arial" panose="020B0604020202020204" pitchFamily="34" charset="0"/>
                            </a:rPr>
                            <m:t>sin</m:t>
                          </m:r>
                        </m:fName>
                        <m:e>
                          <m:d>
                            <m:dPr>
                              <m:ctrlPr>
                                <a:rPr lang="es-CO" sz="1800" i="1" kern="100">
                                  <a:effectLst/>
                                  <a:latin typeface="Cambria Math" panose="02040503050406030204" pitchFamily="18" charset="0"/>
                                  <a:ea typeface="Aptos" panose="020B0004020202020204" pitchFamily="34" charset="0"/>
                                  <a:cs typeface="Arial" panose="020B0604020202020204" pitchFamily="34" charset="0"/>
                                </a:rPr>
                              </m:ctrlPr>
                            </m:dPr>
                            <m:e>
                              <m:r>
                                <a:rPr lang="es-CO" sz="1800" i="1" kern="100">
                                  <a:effectLst/>
                                  <a:latin typeface="Cambria Math" panose="02040503050406030204" pitchFamily="18" charset="0"/>
                                  <a:ea typeface="Aptos" panose="020B0004020202020204" pitchFamily="34" charset="0"/>
                                  <a:cs typeface="Arial" panose="020B0604020202020204" pitchFamily="34" charset="0"/>
                                </a:rPr>
                                <m:t>𝜑</m:t>
                              </m:r>
                            </m:e>
                          </m:d>
                        </m:e>
                      </m:func>
                      <m:r>
                        <a:rPr lang="es-CO" sz="1800" i="1" kern="100">
                          <a:effectLst/>
                          <a:latin typeface="Cambria Math" panose="02040503050406030204" pitchFamily="18" charset="0"/>
                          <a:ea typeface="Aptos" panose="020B0004020202020204" pitchFamily="34" charset="0"/>
                          <a:cs typeface="Arial" panose="020B0604020202020204" pitchFamily="34" charset="0"/>
                        </a:rPr>
                        <m:t> </m:t>
                      </m:r>
                      <m:r>
                        <a:rPr lang="es-CO" sz="1800" i="1" kern="100">
                          <a:effectLst/>
                          <a:latin typeface="Cambria Math" panose="02040503050406030204" pitchFamily="18" charset="0"/>
                          <a:ea typeface="Aptos" panose="020B0004020202020204" pitchFamily="34" charset="0"/>
                          <a:cs typeface="Arial" panose="020B0604020202020204" pitchFamily="34" charset="0"/>
                        </a:rPr>
                        <m:t>𝑑𝑝</m:t>
                      </m:r>
                      <m:r>
                        <a:rPr lang="es-CO" sz="1800" i="1" kern="100">
                          <a:effectLst/>
                          <a:latin typeface="Cambria Math" panose="02040503050406030204" pitchFamily="18" charset="0"/>
                          <a:ea typeface="Aptos" panose="020B0004020202020204" pitchFamily="34" charset="0"/>
                          <a:cs typeface="Arial" panose="020B0604020202020204" pitchFamily="34" charset="0"/>
                        </a:rPr>
                        <m:t> </m:t>
                      </m:r>
                      <m:r>
                        <a:rPr lang="es-CO" sz="1800" i="1" kern="100">
                          <a:effectLst/>
                          <a:latin typeface="Cambria Math" panose="02040503050406030204" pitchFamily="18" charset="0"/>
                          <a:ea typeface="Aptos" panose="020B0004020202020204" pitchFamily="34" charset="0"/>
                          <a:cs typeface="Arial" panose="020B0604020202020204" pitchFamily="34" charset="0"/>
                        </a:rPr>
                        <m:t>𝑑</m:t>
                      </m:r>
                      <m:r>
                        <a:rPr lang="es-CO" sz="1800" i="1" kern="100">
                          <a:effectLst/>
                          <a:latin typeface="Cambria Math" panose="02040503050406030204" pitchFamily="18" charset="0"/>
                          <a:ea typeface="Aptos" panose="020B0004020202020204" pitchFamily="34" charset="0"/>
                          <a:cs typeface="Arial" panose="020B0604020202020204" pitchFamily="34" charset="0"/>
                        </a:rPr>
                        <m:t>𝜑</m:t>
                      </m:r>
                      <m:r>
                        <a:rPr lang="es-CO" sz="1800" i="1" kern="100">
                          <a:effectLst/>
                          <a:latin typeface="Cambria Math" panose="02040503050406030204" pitchFamily="18" charset="0"/>
                          <a:ea typeface="Aptos" panose="020B0004020202020204" pitchFamily="34" charset="0"/>
                          <a:cs typeface="Arial" panose="020B0604020202020204" pitchFamily="34" charset="0"/>
                        </a:rPr>
                        <m:t> </m:t>
                      </m:r>
                      <m:r>
                        <a:rPr lang="es-CO" sz="1800" i="1" kern="100">
                          <a:effectLst/>
                          <a:latin typeface="Cambria Math" panose="02040503050406030204" pitchFamily="18" charset="0"/>
                          <a:ea typeface="Aptos" panose="020B0004020202020204" pitchFamily="34" charset="0"/>
                          <a:cs typeface="Arial" panose="020B0604020202020204" pitchFamily="34" charset="0"/>
                        </a:rPr>
                        <m:t>𝑑</m:t>
                      </m:r>
                      <m:r>
                        <a:rPr lang="es-CO" sz="1800" i="1" kern="100">
                          <a:effectLst/>
                          <a:latin typeface="Cambria Math" panose="02040503050406030204" pitchFamily="18" charset="0"/>
                          <a:ea typeface="Aptos" panose="020B0004020202020204" pitchFamily="34" charset="0"/>
                          <a:cs typeface="Arial" panose="020B0604020202020204" pitchFamily="34" charset="0"/>
                        </a:rPr>
                        <m:t>𝜃</m:t>
                      </m:r>
                    </m:oMath>
                  </m:oMathPara>
                </a14:m>
                <a:endParaRPr lang="es-CO" sz="1800" kern="100" dirty="0">
                  <a:effectLst/>
                  <a:latin typeface="Times New Roman" panose="02020603050405020304" pitchFamily="18" charset="0"/>
                  <a:ea typeface="Aptos" panose="020B0004020202020204" pitchFamily="34" charset="0"/>
                  <a:cs typeface="Arial" panose="020B0604020202020204" pitchFamily="34" charset="0"/>
                </a:endParaRPr>
              </a:p>
              <a:p>
                <a:pPr>
                  <a:lnSpc>
                    <a:spcPct val="115000"/>
                  </a:lnSpc>
                  <a:spcAft>
                    <a:spcPts val="800"/>
                  </a:spcAft>
                  <a:buNone/>
                </a:pPr>
                <a14:m>
                  <m:oMathPara xmlns:m="http://schemas.openxmlformats.org/officeDocument/2006/math">
                    <m:oMathParaPr>
                      <m:jc m:val="centerGroup"/>
                    </m:oMathParaPr>
                    <m:oMath xmlns:m="http://schemas.openxmlformats.org/officeDocument/2006/math">
                      <m:r>
                        <m:rPr>
                          <m:sty m:val="p"/>
                        </m:rPr>
                        <a:rPr lang="es-CO" sz="1800" kern="100">
                          <a:effectLst/>
                          <a:latin typeface="Cambria Math" panose="02040503050406030204" pitchFamily="18" charset="0"/>
                          <a:ea typeface="Yu Mincho" panose="02020400000000000000" pitchFamily="18" charset="-128"/>
                          <a:cs typeface="Arial" panose="020B0604020202020204" pitchFamily="34" charset="0"/>
                        </a:rPr>
                        <m:t>sin</m:t>
                      </m:r>
                      <m:r>
                        <a:rPr lang="es-CO" sz="1800" kern="100">
                          <a:effectLst/>
                          <a:latin typeface="Cambria Math" panose="02040503050406030204" pitchFamily="18" charset="0"/>
                          <a:ea typeface="Yu Mincho" panose="02020400000000000000" pitchFamily="18" charset="-128"/>
                          <a:cs typeface="Arial" panose="020B0604020202020204" pitchFamily="34" charset="0"/>
                        </a:rPr>
                        <m:t>⁡(</m:t>
                      </m:r>
                      <m:r>
                        <m:rPr>
                          <m:sty m:val="p"/>
                        </m:rPr>
                        <a:rPr lang="es-CO" sz="1800" kern="100">
                          <a:effectLst/>
                          <a:latin typeface="Cambria Math" panose="02040503050406030204" pitchFamily="18" charset="0"/>
                          <a:ea typeface="Yu Mincho" panose="02020400000000000000" pitchFamily="18" charset="-128"/>
                          <a:cs typeface="Arial" panose="020B0604020202020204" pitchFamily="34" charset="0"/>
                        </a:rPr>
                        <m:t>φ</m:t>
                      </m:r>
                      <m:r>
                        <a:rPr lang="es-CO" sz="1800" kern="100">
                          <a:effectLst/>
                          <a:latin typeface="Cambria Math" panose="02040503050406030204" pitchFamily="18" charset="0"/>
                          <a:ea typeface="Yu Mincho" panose="02020400000000000000" pitchFamily="18" charset="-128"/>
                          <a:cs typeface="Arial" panose="020B0604020202020204" pitchFamily="34" charset="0"/>
                        </a:rPr>
                        <m:t>)</m:t>
                      </m:r>
                      <m:nary>
                        <m:naryPr>
                          <m:limLoc m:val="subSup"/>
                          <m:ctrlPr>
                            <a:rPr lang="es-CO" sz="1800" i="1" kern="100">
                              <a:effectLst/>
                              <a:latin typeface="Cambria Math" panose="02040503050406030204" pitchFamily="18" charset="0"/>
                              <a:ea typeface="Yu Mincho" panose="02020400000000000000" pitchFamily="18" charset="-128"/>
                              <a:cs typeface="Arial" panose="020B0604020202020204" pitchFamily="34" charset="0"/>
                            </a:rPr>
                          </m:ctrlPr>
                        </m:naryPr>
                        <m:sub>
                          <m:r>
                            <a:rPr lang="es-CO" sz="1800" i="1" kern="100">
                              <a:effectLst/>
                              <a:latin typeface="Cambria Math" panose="02040503050406030204" pitchFamily="18" charset="0"/>
                              <a:ea typeface="Yu Mincho" panose="02020400000000000000" pitchFamily="18" charset="-128"/>
                              <a:cs typeface="Arial" panose="020B0604020202020204" pitchFamily="34" charset="0"/>
                            </a:rPr>
                            <m:t>0</m:t>
                          </m:r>
                        </m:sub>
                        <m:sup>
                          <m:r>
                            <a:rPr lang="es-CO" sz="1800" i="1" kern="100">
                              <a:effectLst/>
                              <a:latin typeface="Cambria Math" panose="02040503050406030204" pitchFamily="18" charset="0"/>
                              <a:ea typeface="Yu Mincho" panose="02020400000000000000" pitchFamily="18" charset="-128"/>
                              <a:cs typeface="Arial" panose="020B0604020202020204" pitchFamily="34" charset="0"/>
                            </a:rPr>
                            <m:t>𝑅</m:t>
                          </m:r>
                        </m:sup>
                        <m:e>
                          <m:sSup>
                            <m:sSupPr>
                              <m:ctrlPr>
                                <a:rPr lang="es-CO" sz="1800" i="1" kern="100">
                                  <a:effectLst/>
                                  <a:latin typeface="Cambria Math" panose="02040503050406030204" pitchFamily="18" charset="0"/>
                                  <a:ea typeface="Yu Mincho" panose="02020400000000000000" pitchFamily="18" charset="-128"/>
                                  <a:cs typeface="Arial" panose="020B0604020202020204" pitchFamily="34" charset="0"/>
                                </a:rPr>
                              </m:ctrlPr>
                            </m:sSupPr>
                            <m:e>
                              <m:r>
                                <a:rPr lang="es-CO" sz="1800" i="1" kern="100">
                                  <a:effectLst/>
                                  <a:latin typeface="Cambria Math" panose="02040503050406030204" pitchFamily="18" charset="0"/>
                                  <a:ea typeface="Yu Mincho" panose="02020400000000000000" pitchFamily="18" charset="-128"/>
                                  <a:cs typeface="Arial" panose="020B0604020202020204" pitchFamily="34" charset="0"/>
                                </a:rPr>
                                <m:t>𝑃</m:t>
                              </m:r>
                            </m:e>
                            <m:sup>
                              <m:r>
                                <a:rPr lang="es-CO" sz="1800" i="1" kern="100">
                                  <a:effectLst/>
                                  <a:latin typeface="Cambria Math" panose="02040503050406030204" pitchFamily="18" charset="0"/>
                                  <a:ea typeface="Yu Mincho" panose="02020400000000000000" pitchFamily="18" charset="-128"/>
                                  <a:cs typeface="Arial" panose="020B0604020202020204" pitchFamily="34" charset="0"/>
                                </a:rPr>
                                <m:t>2</m:t>
                              </m:r>
                            </m:sup>
                          </m:sSup>
                          <m:r>
                            <a:rPr lang="es-CO" sz="1800" i="1" kern="100">
                              <a:effectLst/>
                              <a:latin typeface="Cambria Math" panose="02040503050406030204" pitchFamily="18" charset="0"/>
                              <a:ea typeface="Yu Mincho" panose="02020400000000000000" pitchFamily="18" charset="-128"/>
                              <a:cs typeface="Arial" panose="020B0604020202020204" pitchFamily="34" charset="0"/>
                            </a:rPr>
                            <m:t>𝑑𝑝</m:t>
                          </m:r>
                          <m:r>
                            <a:rPr lang="es-CO" sz="1800" i="1" kern="100">
                              <a:effectLst/>
                              <a:latin typeface="Cambria Math" panose="02040503050406030204" pitchFamily="18" charset="0"/>
                              <a:ea typeface="Yu Mincho" panose="02020400000000000000" pitchFamily="18" charset="-128"/>
                              <a:cs typeface="Arial" panose="020B0604020202020204" pitchFamily="34" charset="0"/>
                            </a:rPr>
                            <m:t>=</m:t>
                          </m:r>
                          <m:r>
                            <m:rPr>
                              <m:sty m:val="p"/>
                            </m:rPr>
                            <a:rPr lang="es-CO" sz="1800" kern="100">
                              <a:effectLst/>
                              <a:latin typeface="Cambria Math" panose="02040503050406030204" pitchFamily="18" charset="0"/>
                              <a:ea typeface="Yu Mincho" panose="02020400000000000000" pitchFamily="18" charset="-128"/>
                              <a:cs typeface="Arial" panose="020B0604020202020204" pitchFamily="34" charset="0"/>
                            </a:rPr>
                            <m:t>sin</m:t>
                          </m:r>
                          <m:r>
                            <a:rPr lang="es-CO" sz="1800" kern="100">
                              <a:effectLst/>
                              <a:latin typeface="Cambria Math" panose="02040503050406030204" pitchFamily="18" charset="0"/>
                              <a:ea typeface="Yu Mincho" panose="02020400000000000000" pitchFamily="18" charset="-128"/>
                              <a:cs typeface="Arial" panose="020B0604020202020204" pitchFamily="34" charset="0"/>
                            </a:rPr>
                            <m:t>⁡</m:t>
                          </m:r>
                          <m:r>
                            <a:rPr lang="es-CO" sz="1800" i="1" kern="100">
                              <a:effectLst/>
                              <a:latin typeface="Cambria Math" panose="02040503050406030204" pitchFamily="18" charset="0"/>
                              <a:ea typeface="Yu Mincho" panose="02020400000000000000" pitchFamily="18" charset="-128"/>
                              <a:cs typeface="Arial" panose="020B0604020202020204" pitchFamily="34" charset="0"/>
                            </a:rPr>
                            <m:t>(</m:t>
                          </m:r>
                          <m:r>
                            <a:rPr lang="es-CO" sz="1800" i="1" kern="100">
                              <a:effectLst/>
                              <a:latin typeface="Cambria Math" panose="02040503050406030204" pitchFamily="18" charset="0"/>
                              <a:ea typeface="Yu Mincho" panose="02020400000000000000" pitchFamily="18" charset="-128"/>
                              <a:cs typeface="Arial" panose="020B0604020202020204" pitchFamily="34" charset="0"/>
                            </a:rPr>
                            <m:t>𝜑</m:t>
                          </m:r>
                          <m:r>
                            <a:rPr lang="es-CO" sz="1800" i="1" kern="100">
                              <a:effectLst/>
                              <a:latin typeface="Cambria Math" panose="02040503050406030204" pitchFamily="18" charset="0"/>
                              <a:ea typeface="Yu Mincho" panose="02020400000000000000" pitchFamily="18" charset="-128"/>
                              <a:cs typeface="Arial" panose="020B0604020202020204" pitchFamily="34" charset="0"/>
                            </a:rPr>
                            <m:t>)</m:t>
                          </m:r>
                          <m:nary>
                            <m:naryPr>
                              <m:limLoc m:val="subSup"/>
                              <m:ctrlPr>
                                <a:rPr lang="es-CO" sz="1800" i="1" kern="100">
                                  <a:effectLst/>
                                  <a:latin typeface="Cambria Math" panose="02040503050406030204" pitchFamily="18" charset="0"/>
                                  <a:ea typeface="Yu Mincho" panose="02020400000000000000" pitchFamily="18" charset="-128"/>
                                  <a:cs typeface="Arial" panose="020B0604020202020204" pitchFamily="34" charset="0"/>
                                </a:rPr>
                              </m:ctrlPr>
                            </m:naryPr>
                            <m:sub>
                              <m:r>
                                <a:rPr lang="es-CO" sz="1800" i="1" kern="100">
                                  <a:effectLst/>
                                  <a:latin typeface="Cambria Math" panose="02040503050406030204" pitchFamily="18" charset="0"/>
                                  <a:ea typeface="Yu Mincho" panose="02020400000000000000" pitchFamily="18" charset="-128"/>
                                  <a:cs typeface="Arial" panose="020B0604020202020204" pitchFamily="34" charset="0"/>
                                </a:rPr>
                                <m:t>0</m:t>
                              </m:r>
                            </m:sub>
                            <m:sup>
                              <m:r>
                                <a:rPr lang="es-CO" sz="1800" i="1" kern="100">
                                  <a:effectLst/>
                                  <a:latin typeface="Cambria Math" panose="02040503050406030204" pitchFamily="18" charset="0"/>
                                  <a:ea typeface="Yu Mincho" panose="02020400000000000000" pitchFamily="18" charset="-128"/>
                                  <a:cs typeface="Arial" panose="020B0604020202020204" pitchFamily="34" charset="0"/>
                                </a:rPr>
                                <m:t>𝑅</m:t>
                              </m:r>
                            </m:sup>
                            <m:e>
                              <m:f>
                                <m:fPr>
                                  <m:ctrlPr>
                                    <a:rPr lang="es-CO" sz="1800" i="1" kern="100">
                                      <a:effectLst/>
                                      <a:latin typeface="Cambria Math" panose="02040503050406030204" pitchFamily="18" charset="0"/>
                                      <a:ea typeface="Yu Mincho" panose="02020400000000000000" pitchFamily="18" charset="-128"/>
                                      <a:cs typeface="Arial" panose="020B0604020202020204" pitchFamily="34" charset="0"/>
                                    </a:rPr>
                                  </m:ctrlPr>
                                </m:fPr>
                                <m:num>
                                  <m:sSup>
                                    <m:sSupPr>
                                      <m:ctrlPr>
                                        <a:rPr lang="es-CO" sz="1800" i="1" kern="100">
                                          <a:effectLst/>
                                          <a:latin typeface="Cambria Math" panose="02040503050406030204" pitchFamily="18" charset="0"/>
                                          <a:ea typeface="Yu Mincho" panose="02020400000000000000" pitchFamily="18" charset="-128"/>
                                          <a:cs typeface="Arial" panose="020B0604020202020204" pitchFamily="34" charset="0"/>
                                        </a:rPr>
                                      </m:ctrlPr>
                                    </m:sSupPr>
                                    <m:e>
                                      <m:r>
                                        <a:rPr lang="es-CO" sz="1800" i="1" kern="100">
                                          <a:effectLst/>
                                          <a:latin typeface="Cambria Math" panose="02040503050406030204" pitchFamily="18" charset="0"/>
                                          <a:ea typeface="Yu Mincho" panose="02020400000000000000" pitchFamily="18" charset="-128"/>
                                          <a:cs typeface="Arial" panose="020B0604020202020204" pitchFamily="34" charset="0"/>
                                        </a:rPr>
                                        <m:t>𝑃</m:t>
                                      </m:r>
                                    </m:e>
                                    <m:sup>
                                      <m:r>
                                        <a:rPr lang="es-CO" sz="1800" i="1" kern="100">
                                          <a:effectLst/>
                                          <a:latin typeface="Cambria Math" panose="02040503050406030204" pitchFamily="18" charset="0"/>
                                          <a:ea typeface="Yu Mincho" panose="02020400000000000000" pitchFamily="18" charset="-128"/>
                                          <a:cs typeface="Arial" panose="020B0604020202020204" pitchFamily="34" charset="0"/>
                                        </a:rPr>
                                        <m:t>3</m:t>
                                      </m:r>
                                    </m:sup>
                                  </m:sSup>
                                </m:num>
                                <m:den>
                                  <m:r>
                                    <a:rPr lang="es-CO" sz="1800" i="1" kern="100">
                                      <a:effectLst/>
                                      <a:latin typeface="Cambria Math" panose="02040503050406030204" pitchFamily="18" charset="0"/>
                                      <a:ea typeface="Yu Mincho" panose="02020400000000000000" pitchFamily="18" charset="-128"/>
                                      <a:cs typeface="Arial" panose="020B0604020202020204" pitchFamily="34" charset="0"/>
                                    </a:rPr>
                                    <m:t>3</m:t>
                                  </m:r>
                                </m:den>
                              </m:f>
                              <m:r>
                                <a:rPr lang="es-CO" sz="1800" i="1" kern="100">
                                  <a:effectLst/>
                                  <a:latin typeface="Cambria Math" panose="02040503050406030204" pitchFamily="18" charset="0"/>
                                  <a:ea typeface="Yu Mincho" panose="02020400000000000000" pitchFamily="18" charset="-128"/>
                                  <a:cs typeface="Arial" panose="020B0604020202020204" pitchFamily="34" charset="0"/>
                                </a:rPr>
                                <m:t>𝑑𝑝</m:t>
                              </m:r>
                            </m:e>
                          </m:nary>
                        </m:e>
                      </m:nary>
                    </m:oMath>
                  </m:oMathPara>
                </a14:m>
                <a:endParaRPr lang="es-CO" sz="1800" kern="100" dirty="0">
                  <a:effectLst/>
                  <a:latin typeface="Times New Roman" panose="02020603050405020304" pitchFamily="18" charset="0"/>
                  <a:ea typeface="Aptos" panose="020B0004020202020204" pitchFamily="34" charset="0"/>
                  <a:cs typeface="Arial" panose="020B0604020202020204" pitchFamily="34" charset="0"/>
                </a:endParaRPr>
              </a:p>
              <a:p>
                <a:pPr>
                  <a:lnSpc>
                    <a:spcPct val="115000"/>
                  </a:lnSpc>
                  <a:spcAft>
                    <a:spcPts val="800"/>
                  </a:spcAft>
                  <a:buNone/>
                </a:pPr>
                <a14:m>
                  <m:oMathPara xmlns:m="http://schemas.openxmlformats.org/officeDocument/2006/math">
                    <m:oMathParaPr>
                      <m:jc m:val="centerGroup"/>
                    </m:oMathParaPr>
                    <m:oMath xmlns:m="http://schemas.openxmlformats.org/officeDocument/2006/math">
                      <m:func>
                        <m:funcPr>
                          <m:ctrlPr>
                            <a:rPr lang="es-CO" sz="1800" i="1" kern="100">
                              <a:effectLst/>
                              <a:latin typeface="Cambria Math" panose="02040503050406030204" pitchFamily="18" charset="0"/>
                              <a:ea typeface="Yu Mincho" panose="02020400000000000000" pitchFamily="18" charset="-128"/>
                              <a:cs typeface="Arial" panose="020B0604020202020204" pitchFamily="34" charset="0"/>
                            </a:rPr>
                          </m:ctrlPr>
                        </m:funcPr>
                        <m:fName>
                          <m:r>
                            <m:rPr>
                              <m:sty m:val="p"/>
                            </m:rPr>
                            <a:rPr lang="es-CO" sz="1800" kern="100">
                              <a:effectLst/>
                              <a:latin typeface="Cambria Math" panose="02040503050406030204" pitchFamily="18" charset="0"/>
                              <a:ea typeface="Yu Mincho" panose="02020400000000000000" pitchFamily="18" charset="-128"/>
                              <a:cs typeface="Arial" panose="020B0604020202020204" pitchFamily="34" charset="0"/>
                            </a:rPr>
                            <m:t>sin</m:t>
                          </m:r>
                        </m:fName>
                        <m:e>
                          <m:d>
                            <m:dPr>
                              <m:ctrlPr>
                                <a:rPr lang="es-CO" sz="1800" i="1" kern="100">
                                  <a:effectLst/>
                                  <a:latin typeface="Cambria Math" panose="02040503050406030204" pitchFamily="18" charset="0"/>
                                  <a:ea typeface="Yu Mincho" panose="02020400000000000000" pitchFamily="18" charset="-128"/>
                                  <a:cs typeface="Arial" panose="020B0604020202020204" pitchFamily="34" charset="0"/>
                                </a:rPr>
                              </m:ctrlPr>
                            </m:dPr>
                            <m:e>
                              <m:r>
                                <a:rPr lang="es-CO" sz="1800" i="1" kern="100">
                                  <a:effectLst/>
                                  <a:latin typeface="Cambria Math" panose="02040503050406030204" pitchFamily="18" charset="0"/>
                                  <a:ea typeface="Yu Mincho" panose="02020400000000000000" pitchFamily="18" charset="-128"/>
                                  <a:cs typeface="Arial" panose="020B0604020202020204" pitchFamily="34" charset="0"/>
                                </a:rPr>
                                <m:t>𝜑</m:t>
                              </m:r>
                            </m:e>
                          </m:d>
                        </m:e>
                      </m:func>
                      <m:f>
                        <m:fPr>
                          <m:ctrlPr>
                            <a:rPr lang="es-CO" sz="1800" i="1" kern="100">
                              <a:effectLst/>
                              <a:latin typeface="Cambria Math" panose="02040503050406030204" pitchFamily="18" charset="0"/>
                              <a:ea typeface="Yu Mincho" panose="02020400000000000000" pitchFamily="18" charset="-128"/>
                              <a:cs typeface="Arial" panose="020B0604020202020204" pitchFamily="34" charset="0"/>
                            </a:rPr>
                          </m:ctrlPr>
                        </m:fPr>
                        <m:num>
                          <m:sSup>
                            <m:sSupPr>
                              <m:ctrlPr>
                                <a:rPr lang="es-CO" sz="1800" i="1" kern="100">
                                  <a:effectLst/>
                                  <a:latin typeface="Cambria Math" panose="02040503050406030204" pitchFamily="18" charset="0"/>
                                  <a:ea typeface="Yu Mincho" panose="02020400000000000000" pitchFamily="18" charset="-128"/>
                                  <a:cs typeface="Arial" panose="020B0604020202020204" pitchFamily="34" charset="0"/>
                                </a:rPr>
                              </m:ctrlPr>
                            </m:sSupPr>
                            <m:e>
                              <m:r>
                                <a:rPr lang="es-CO" sz="1800" i="1" kern="100">
                                  <a:effectLst/>
                                  <a:latin typeface="Cambria Math" panose="02040503050406030204" pitchFamily="18" charset="0"/>
                                  <a:ea typeface="Yu Mincho" panose="02020400000000000000" pitchFamily="18" charset="-128"/>
                                  <a:cs typeface="Arial" panose="020B0604020202020204" pitchFamily="34" charset="0"/>
                                </a:rPr>
                                <m:t>6.75</m:t>
                              </m:r>
                            </m:e>
                            <m:sup>
                              <m:r>
                                <a:rPr lang="es-CO" sz="1800" i="1" kern="100">
                                  <a:effectLst/>
                                  <a:latin typeface="Cambria Math" panose="02040503050406030204" pitchFamily="18" charset="0"/>
                                  <a:ea typeface="Yu Mincho" panose="02020400000000000000" pitchFamily="18" charset="-128"/>
                                  <a:cs typeface="Arial" panose="020B0604020202020204" pitchFamily="34" charset="0"/>
                                </a:rPr>
                                <m:t>3</m:t>
                              </m:r>
                            </m:sup>
                          </m:sSup>
                        </m:num>
                        <m:den>
                          <m:r>
                            <a:rPr lang="es-CO" sz="1800" i="1" kern="100">
                              <a:effectLst/>
                              <a:latin typeface="Cambria Math" panose="02040503050406030204" pitchFamily="18" charset="0"/>
                              <a:ea typeface="Yu Mincho" panose="02020400000000000000" pitchFamily="18" charset="-128"/>
                              <a:cs typeface="Arial" panose="020B0604020202020204" pitchFamily="34" charset="0"/>
                            </a:rPr>
                            <m:t>3</m:t>
                          </m:r>
                        </m:den>
                      </m:f>
                      <m:r>
                        <a:rPr lang="es-CO" sz="1800" i="1" kern="100">
                          <a:effectLst/>
                          <a:latin typeface="Cambria Math" panose="02040503050406030204" pitchFamily="18" charset="0"/>
                          <a:ea typeface="Yu Mincho" panose="02020400000000000000" pitchFamily="18" charset="-128"/>
                          <a:cs typeface="Arial" panose="020B0604020202020204" pitchFamily="34" charset="0"/>
                        </a:rPr>
                        <m:t>−</m:t>
                      </m:r>
                      <m:r>
                        <m:rPr>
                          <m:sty m:val="p"/>
                        </m:rPr>
                        <a:rPr lang="es-CO" sz="1800" kern="100">
                          <a:effectLst/>
                          <a:latin typeface="Cambria Math" panose="02040503050406030204" pitchFamily="18" charset="0"/>
                          <a:ea typeface="Yu Mincho" panose="02020400000000000000" pitchFamily="18" charset="-128"/>
                          <a:cs typeface="Arial" panose="020B0604020202020204" pitchFamily="34" charset="0"/>
                        </a:rPr>
                        <m:t>sin</m:t>
                      </m:r>
                      <m:r>
                        <a:rPr lang="es-CO" sz="1800" kern="100">
                          <a:effectLst/>
                          <a:latin typeface="Cambria Math" panose="02040503050406030204" pitchFamily="18" charset="0"/>
                          <a:ea typeface="Yu Mincho" panose="02020400000000000000" pitchFamily="18" charset="-128"/>
                          <a:cs typeface="Arial" panose="020B0604020202020204" pitchFamily="34" charset="0"/>
                        </a:rPr>
                        <m:t>⁡</m:t>
                      </m:r>
                      <m:r>
                        <a:rPr lang="es-CO" sz="1800" i="1" kern="100">
                          <a:effectLst/>
                          <a:latin typeface="Cambria Math" panose="02040503050406030204" pitchFamily="18" charset="0"/>
                          <a:ea typeface="Yu Mincho" panose="02020400000000000000" pitchFamily="18" charset="-128"/>
                          <a:cs typeface="Arial" panose="020B0604020202020204" pitchFamily="34" charset="0"/>
                        </a:rPr>
                        <m:t>(</m:t>
                      </m:r>
                      <m:r>
                        <a:rPr lang="es-CO" sz="1800" i="1" kern="100">
                          <a:effectLst/>
                          <a:latin typeface="Cambria Math" panose="02040503050406030204" pitchFamily="18" charset="0"/>
                          <a:ea typeface="Yu Mincho" panose="02020400000000000000" pitchFamily="18" charset="-128"/>
                          <a:cs typeface="Arial" panose="020B0604020202020204" pitchFamily="34" charset="0"/>
                        </a:rPr>
                        <m:t>𝜑</m:t>
                      </m:r>
                      <m:r>
                        <a:rPr lang="es-CO" sz="1800" i="1" kern="100">
                          <a:effectLst/>
                          <a:latin typeface="Cambria Math" panose="02040503050406030204" pitchFamily="18" charset="0"/>
                          <a:ea typeface="Yu Mincho" panose="02020400000000000000" pitchFamily="18" charset="-128"/>
                          <a:cs typeface="Arial" panose="020B0604020202020204" pitchFamily="34" charset="0"/>
                        </a:rPr>
                        <m:t>)</m:t>
                      </m:r>
                      <m:f>
                        <m:fPr>
                          <m:ctrlPr>
                            <a:rPr lang="es-CO" sz="1800" i="1" kern="100">
                              <a:effectLst/>
                              <a:latin typeface="Cambria Math" panose="02040503050406030204" pitchFamily="18" charset="0"/>
                              <a:ea typeface="Yu Mincho" panose="02020400000000000000" pitchFamily="18" charset="-128"/>
                              <a:cs typeface="Arial" panose="020B0604020202020204" pitchFamily="34" charset="0"/>
                            </a:rPr>
                          </m:ctrlPr>
                        </m:fPr>
                        <m:num>
                          <m:sSup>
                            <m:sSupPr>
                              <m:ctrlPr>
                                <a:rPr lang="es-CO" sz="1800" i="1" kern="100">
                                  <a:effectLst/>
                                  <a:latin typeface="Cambria Math" panose="02040503050406030204" pitchFamily="18" charset="0"/>
                                  <a:ea typeface="Yu Mincho" panose="02020400000000000000" pitchFamily="18" charset="-128"/>
                                  <a:cs typeface="Arial" panose="020B0604020202020204" pitchFamily="34" charset="0"/>
                                </a:rPr>
                              </m:ctrlPr>
                            </m:sSupPr>
                            <m:e>
                              <m:r>
                                <a:rPr lang="es-CO" sz="1800" i="1" kern="100">
                                  <a:effectLst/>
                                  <a:latin typeface="Cambria Math" panose="02040503050406030204" pitchFamily="18" charset="0"/>
                                  <a:ea typeface="Yu Mincho" panose="02020400000000000000" pitchFamily="18" charset="-128"/>
                                  <a:cs typeface="Arial" panose="020B0604020202020204" pitchFamily="34" charset="0"/>
                                </a:rPr>
                                <m:t>0</m:t>
                              </m:r>
                            </m:e>
                            <m:sup>
                              <m:r>
                                <a:rPr lang="es-CO" sz="1800" i="1" kern="100">
                                  <a:effectLst/>
                                  <a:latin typeface="Cambria Math" panose="02040503050406030204" pitchFamily="18" charset="0"/>
                                  <a:ea typeface="Yu Mincho" panose="02020400000000000000" pitchFamily="18" charset="-128"/>
                                  <a:cs typeface="Arial" panose="020B0604020202020204" pitchFamily="34" charset="0"/>
                                </a:rPr>
                                <m:t>3</m:t>
                              </m:r>
                            </m:sup>
                          </m:sSup>
                        </m:num>
                        <m:den>
                          <m:r>
                            <a:rPr lang="es-CO" sz="1800" i="1" kern="100">
                              <a:effectLst/>
                              <a:latin typeface="Cambria Math" panose="02040503050406030204" pitchFamily="18" charset="0"/>
                              <a:ea typeface="Yu Mincho" panose="02020400000000000000" pitchFamily="18" charset="-128"/>
                              <a:cs typeface="Arial" panose="020B0604020202020204" pitchFamily="34" charset="0"/>
                            </a:rPr>
                            <m:t>3</m:t>
                          </m:r>
                        </m:den>
                      </m:f>
                    </m:oMath>
                  </m:oMathPara>
                </a14:m>
                <a:endParaRPr lang="es-CO" sz="1800" kern="100" dirty="0">
                  <a:effectLst/>
                  <a:latin typeface="Times New Roman" panose="02020603050405020304" pitchFamily="18" charset="0"/>
                  <a:ea typeface="Aptos" panose="020B0004020202020204" pitchFamily="34" charset="0"/>
                  <a:cs typeface="Arial" panose="020B0604020202020204" pitchFamily="34" charset="0"/>
                </a:endParaRPr>
              </a:p>
              <a:p>
                <a:pPr>
                  <a:lnSpc>
                    <a:spcPct val="115000"/>
                  </a:lnSpc>
                  <a:spcAft>
                    <a:spcPts val="800"/>
                  </a:spcAft>
                  <a:buNone/>
                  <a:tabLst>
                    <a:tab pos="1104900" algn="l"/>
                  </a:tabLst>
                </a:pPr>
                <a14:m>
                  <m:oMathPara xmlns:m="http://schemas.openxmlformats.org/officeDocument/2006/math">
                    <m:oMathParaPr>
                      <m:jc m:val="centerGroup"/>
                    </m:oMathParaPr>
                    <m:oMath xmlns:m="http://schemas.openxmlformats.org/officeDocument/2006/math">
                      <m:nary>
                        <m:naryPr>
                          <m:limLoc m:val="subSup"/>
                          <m:ctrlPr>
                            <a:rPr lang="es-CO" sz="1800" i="1" kern="100">
                              <a:effectLst/>
                              <a:latin typeface="Cambria Math" panose="02040503050406030204" pitchFamily="18" charset="0"/>
                              <a:ea typeface="Yu Mincho" panose="02020400000000000000" pitchFamily="18" charset="-128"/>
                              <a:cs typeface="Arial" panose="020B0604020202020204" pitchFamily="34" charset="0"/>
                            </a:rPr>
                          </m:ctrlPr>
                        </m:naryPr>
                        <m:sub>
                          <m:r>
                            <a:rPr lang="es-CO" sz="1800" i="1" kern="100">
                              <a:effectLst/>
                              <a:latin typeface="Cambria Math" panose="02040503050406030204" pitchFamily="18" charset="0"/>
                              <a:ea typeface="Yu Mincho" panose="02020400000000000000" pitchFamily="18" charset="-128"/>
                              <a:cs typeface="Arial" panose="020B0604020202020204" pitchFamily="34" charset="0"/>
                            </a:rPr>
                            <m:t>2</m:t>
                          </m:r>
                        </m:sub>
                        <m:sup>
                          <m:r>
                            <a:rPr lang="es-CO" sz="1800" i="1" kern="100">
                              <a:effectLst/>
                              <a:latin typeface="Cambria Math" panose="02040503050406030204" pitchFamily="18" charset="0"/>
                              <a:ea typeface="Yu Mincho" panose="02020400000000000000" pitchFamily="18" charset="-128"/>
                              <a:cs typeface="Arial" panose="020B0604020202020204" pitchFamily="34" charset="0"/>
                            </a:rPr>
                            <m:t>𝜋</m:t>
                          </m:r>
                        </m:sup>
                        <m:e>
                          <m:r>
                            <a:rPr lang="es-CO" sz="1800" i="1" kern="100">
                              <a:effectLst/>
                              <a:latin typeface="Cambria Math" panose="02040503050406030204" pitchFamily="18" charset="0"/>
                              <a:ea typeface="Yu Mincho" panose="02020400000000000000" pitchFamily="18" charset="-128"/>
                              <a:cs typeface="Arial" panose="020B0604020202020204" pitchFamily="34" charset="0"/>
                            </a:rPr>
                            <m:t>102.51</m:t>
                          </m:r>
                          <m:r>
                            <m:rPr>
                              <m:sty m:val="p"/>
                            </m:rPr>
                            <a:rPr lang="es-CO" sz="1800" kern="100">
                              <a:effectLst/>
                              <a:latin typeface="Cambria Math" panose="02040503050406030204" pitchFamily="18" charset="0"/>
                              <a:ea typeface="Yu Mincho" panose="02020400000000000000" pitchFamily="18" charset="-128"/>
                              <a:cs typeface="Arial" panose="020B0604020202020204" pitchFamily="34" charset="0"/>
                            </a:rPr>
                            <m:t>sin</m:t>
                          </m:r>
                          <m:r>
                            <a:rPr lang="es-CO" sz="1800" kern="100">
                              <a:effectLst/>
                              <a:latin typeface="Cambria Math" panose="02040503050406030204" pitchFamily="18" charset="0"/>
                              <a:ea typeface="Yu Mincho" panose="02020400000000000000" pitchFamily="18" charset="-128"/>
                              <a:cs typeface="Arial" panose="020B0604020202020204" pitchFamily="34" charset="0"/>
                            </a:rPr>
                            <m:t>⁡(</m:t>
                          </m:r>
                          <m:r>
                            <m:rPr>
                              <m:sty m:val="p"/>
                            </m:rPr>
                            <a:rPr lang="es-CO" sz="1800" kern="100">
                              <a:effectLst/>
                              <a:latin typeface="Cambria Math" panose="02040503050406030204" pitchFamily="18" charset="0"/>
                              <a:ea typeface="Yu Mincho" panose="02020400000000000000" pitchFamily="18" charset="-128"/>
                              <a:cs typeface="Arial" panose="020B0604020202020204" pitchFamily="34" charset="0"/>
                            </a:rPr>
                            <m:t>φ</m:t>
                          </m:r>
                          <m:r>
                            <a:rPr lang="es-CO" sz="1800" kern="100">
                              <a:effectLst/>
                              <a:latin typeface="Cambria Math" panose="02040503050406030204" pitchFamily="18" charset="0"/>
                              <a:ea typeface="Yu Mincho" panose="02020400000000000000" pitchFamily="18" charset="-128"/>
                              <a:cs typeface="Arial" panose="020B0604020202020204" pitchFamily="34" charset="0"/>
                            </a:rPr>
                            <m:t>)</m:t>
                          </m:r>
                        </m:e>
                      </m:nary>
                    </m:oMath>
                  </m:oMathPara>
                </a14:m>
                <a:endParaRPr lang="es-CO" sz="1800" kern="100" dirty="0">
                  <a:effectLst/>
                  <a:latin typeface="Times New Roman" panose="02020603050405020304" pitchFamily="18" charset="0"/>
                  <a:ea typeface="Aptos" panose="020B0004020202020204" pitchFamily="34" charset="0"/>
                  <a:cs typeface="Arial" panose="020B0604020202020204" pitchFamily="34" charset="0"/>
                </a:endParaRPr>
              </a:p>
              <a:p>
                <a:pPr>
                  <a:lnSpc>
                    <a:spcPct val="115000"/>
                  </a:lnSpc>
                  <a:spcAft>
                    <a:spcPts val="800"/>
                  </a:spcAft>
                  <a:buNone/>
                  <a:tabLst>
                    <a:tab pos="600075" algn="l"/>
                  </a:tabLst>
                </a:pPr>
                <a14:m>
                  <m:oMathPara xmlns:m="http://schemas.openxmlformats.org/officeDocument/2006/math">
                    <m:oMathParaPr>
                      <m:jc m:val="centerGroup"/>
                    </m:oMathParaPr>
                    <m:oMath xmlns:m="http://schemas.openxmlformats.org/officeDocument/2006/math">
                      <m:r>
                        <a:rPr lang="es-CO" sz="1800" i="1" kern="100">
                          <a:effectLst/>
                          <a:latin typeface="Cambria Math" panose="02040503050406030204" pitchFamily="18" charset="0"/>
                          <a:ea typeface="Yu Mincho" panose="02020400000000000000" pitchFamily="18" charset="-128"/>
                          <a:cs typeface="Arial" panose="020B0604020202020204" pitchFamily="34" charset="0"/>
                        </a:rPr>
                        <m:t>102.51</m:t>
                      </m:r>
                      <m:nary>
                        <m:naryPr>
                          <m:limLoc m:val="subSup"/>
                          <m:ctrlPr>
                            <a:rPr lang="es-CO" sz="1800" i="1" kern="100">
                              <a:effectLst/>
                              <a:latin typeface="Cambria Math" panose="02040503050406030204" pitchFamily="18" charset="0"/>
                              <a:ea typeface="Yu Mincho" panose="02020400000000000000" pitchFamily="18" charset="-128"/>
                              <a:cs typeface="Arial" panose="020B0604020202020204" pitchFamily="34" charset="0"/>
                            </a:rPr>
                          </m:ctrlPr>
                        </m:naryPr>
                        <m:sub>
                          <m:r>
                            <a:rPr lang="es-CO" sz="1800" i="1" kern="100">
                              <a:effectLst/>
                              <a:latin typeface="Cambria Math" panose="02040503050406030204" pitchFamily="18" charset="0"/>
                              <a:ea typeface="Yu Mincho" panose="02020400000000000000" pitchFamily="18" charset="-128"/>
                              <a:cs typeface="Arial" panose="020B0604020202020204" pitchFamily="34" charset="0"/>
                            </a:rPr>
                            <m:t>2</m:t>
                          </m:r>
                        </m:sub>
                        <m:sup>
                          <m:r>
                            <a:rPr lang="es-CO" sz="1800" i="1" kern="100">
                              <a:effectLst/>
                              <a:latin typeface="Cambria Math" panose="02040503050406030204" pitchFamily="18" charset="0"/>
                              <a:ea typeface="Yu Mincho" panose="02020400000000000000" pitchFamily="18" charset="-128"/>
                              <a:cs typeface="Arial" panose="020B0604020202020204" pitchFamily="34" charset="0"/>
                            </a:rPr>
                            <m:t>𝜋</m:t>
                          </m:r>
                        </m:sup>
                        <m:e>
                          <m:r>
                            <a:rPr lang="es-CO" sz="1800" i="1" kern="100">
                              <a:effectLst/>
                              <a:latin typeface="Cambria Math" panose="02040503050406030204" pitchFamily="18" charset="0"/>
                              <a:ea typeface="Yu Mincho" panose="02020400000000000000" pitchFamily="18" charset="-128"/>
                              <a:cs typeface="Arial" panose="020B0604020202020204" pitchFamily="34" charset="0"/>
                            </a:rPr>
                            <m:t>−</m:t>
                          </m:r>
                          <m:r>
                            <m:rPr>
                              <m:sty m:val="p"/>
                            </m:rPr>
                            <a:rPr lang="es-CO" sz="1800" kern="100">
                              <a:effectLst/>
                              <a:latin typeface="Cambria Math" panose="02040503050406030204" pitchFamily="18" charset="0"/>
                              <a:ea typeface="Yu Mincho" panose="02020400000000000000" pitchFamily="18" charset="-128"/>
                              <a:cs typeface="Arial" panose="020B0604020202020204" pitchFamily="34" charset="0"/>
                            </a:rPr>
                            <m:t>cos</m:t>
                          </m:r>
                          <m:r>
                            <a:rPr lang="es-CO" sz="1800" kern="100">
                              <a:effectLst/>
                              <a:latin typeface="Cambria Math" panose="02040503050406030204" pitchFamily="18" charset="0"/>
                              <a:ea typeface="Yu Mincho" panose="02020400000000000000" pitchFamily="18" charset="-128"/>
                              <a:cs typeface="Arial" panose="020B0604020202020204" pitchFamily="34" charset="0"/>
                            </a:rPr>
                            <m:t>⁡(</m:t>
                          </m:r>
                          <m:r>
                            <m:rPr>
                              <m:sty m:val="p"/>
                            </m:rPr>
                            <a:rPr lang="es-CO" sz="1800" kern="100">
                              <a:effectLst/>
                              <a:latin typeface="Cambria Math" panose="02040503050406030204" pitchFamily="18" charset="0"/>
                              <a:ea typeface="Yu Mincho" panose="02020400000000000000" pitchFamily="18" charset="-128"/>
                              <a:cs typeface="Arial" panose="020B0604020202020204" pitchFamily="34" charset="0"/>
                            </a:rPr>
                            <m:t>φ</m:t>
                          </m:r>
                          <m:r>
                            <a:rPr lang="es-CO" sz="1800" kern="100">
                              <a:effectLst/>
                              <a:latin typeface="Cambria Math" panose="02040503050406030204" pitchFamily="18" charset="0"/>
                              <a:ea typeface="Yu Mincho" panose="02020400000000000000" pitchFamily="18" charset="-128"/>
                              <a:cs typeface="Arial" panose="020B0604020202020204" pitchFamily="34" charset="0"/>
                            </a:rPr>
                            <m:t>)</m:t>
                          </m:r>
                        </m:e>
                      </m:nary>
                    </m:oMath>
                  </m:oMathPara>
                </a14:m>
                <a:endParaRPr lang="es-CO" sz="1800" kern="100" dirty="0">
                  <a:effectLst/>
                  <a:latin typeface="Times New Roman" panose="02020603050405020304" pitchFamily="18" charset="0"/>
                  <a:ea typeface="Aptos" panose="020B0004020202020204" pitchFamily="34" charset="0"/>
                  <a:cs typeface="Arial" panose="020B0604020202020204" pitchFamily="34" charset="0"/>
                </a:endParaRPr>
              </a:p>
              <a:p>
                <a:pPr>
                  <a:lnSpc>
                    <a:spcPct val="115000"/>
                  </a:lnSpc>
                  <a:spcAft>
                    <a:spcPts val="800"/>
                  </a:spcAft>
                  <a:buNone/>
                </a:pPr>
                <a14:m>
                  <m:oMathPara xmlns:m="http://schemas.openxmlformats.org/officeDocument/2006/math">
                    <m:oMathParaPr>
                      <m:jc m:val="centerGroup"/>
                    </m:oMathParaPr>
                    <m:oMath xmlns:m="http://schemas.openxmlformats.org/officeDocument/2006/math">
                      <m:r>
                        <a:rPr lang="es-CO" sz="1800" i="1" kern="100">
                          <a:effectLst/>
                          <a:latin typeface="Cambria Math" panose="02040503050406030204" pitchFamily="18" charset="0"/>
                          <a:ea typeface="Yu Mincho" panose="02020400000000000000" pitchFamily="18" charset="-128"/>
                          <a:cs typeface="Arial" panose="020B0604020202020204" pitchFamily="34" charset="0"/>
                        </a:rPr>
                        <m:t>(102.51(−</m:t>
                      </m:r>
                      <m:func>
                        <m:funcPr>
                          <m:ctrlPr>
                            <a:rPr lang="es-CO" sz="1800" i="1" kern="100">
                              <a:effectLst/>
                              <a:latin typeface="Cambria Math" panose="02040503050406030204" pitchFamily="18" charset="0"/>
                              <a:ea typeface="Yu Mincho" panose="02020400000000000000" pitchFamily="18" charset="-128"/>
                              <a:cs typeface="Arial" panose="020B0604020202020204" pitchFamily="34" charset="0"/>
                            </a:rPr>
                          </m:ctrlPr>
                        </m:funcPr>
                        <m:fName>
                          <m:r>
                            <m:rPr>
                              <m:sty m:val="p"/>
                            </m:rPr>
                            <a:rPr lang="es-CO" sz="1800" kern="100">
                              <a:effectLst/>
                              <a:latin typeface="Cambria Math" panose="02040503050406030204" pitchFamily="18" charset="0"/>
                              <a:ea typeface="Yu Mincho" panose="02020400000000000000" pitchFamily="18" charset="-128"/>
                              <a:cs typeface="Arial" panose="020B0604020202020204" pitchFamily="34" charset="0"/>
                            </a:rPr>
                            <m:t>cos</m:t>
                          </m:r>
                        </m:fName>
                        <m:e>
                          <m:r>
                            <a:rPr lang="es-CO" sz="1800" i="1" kern="100">
                              <a:effectLst/>
                              <a:latin typeface="Cambria Math" panose="02040503050406030204" pitchFamily="18" charset="0"/>
                              <a:ea typeface="Yu Mincho" panose="02020400000000000000" pitchFamily="18" charset="-128"/>
                              <a:cs typeface="Arial" panose="020B0604020202020204" pitchFamily="34" charset="0"/>
                            </a:rPr>
                            <m:t>(</m:t>
                          </m:r>
                          <m:r>
                            <a:rPr lang="es-CO" sz="1800" i="1" kern="100">
                              <a:effectLst/>
                              <a:latin typeface="Cambria Math" panose="02040503050406030204" pitchFamily="18" charset="0"/>
                              <a:ea typeface="Yu Mincho" panose="02020400000000000000" pitchFamily="18" charset="-128"/>
                              <a:cs typeface="Arial" panose="020B0604020202020204" pitchFamily="34" charset="0"/>
                            </a:rPr>
                            <m:t>𝜑</m:t>
                          </m:r>
                          <m:r>
                            <a:rPr lang="es-CO" sz="1800" i="1" kern="100">
                              <a:effectLst/>
                              <a:latin typeface="Cambria Math" panose="02040503050406030204" pitchFamily="18" charset="0"/>
                              <a:ea typeface="Yu Mincho" panose="02020400000000000000" pitchFamily="18" charset="-128"/>
                              <a:cs typeface="Arial" panose="020B0604020202020204" pitchFamily="34" charset="0"/>
                            </a:rPr>
                            <m:t>)))−(102.51(−</m:t>
                          </m:r>
                          <m:r>
                            <m:rPr>
                              <m:sty m:val="p"/>
                            </m:rPr>
                            <a:rPr lang="es-CO" sz="1800" kern="100">
                              <a:effectLst/>
                              <a:latin typeface="Cambria Math" panose="02040503050406030204" pitchFamily="18" charset="0"/>
                              <a:ea typeface="Yu Mincho" panose="02020400000000000000" pitchFamily="18" charset="-128"/>
                              <a:cs typeface="Arial" panose="020B0604020202020204" pitchFamily="34" charset="0"/>
                            </a:rPr>
                            <m:t>cos</m:t>
                          </m:r>
                          <m:r>
                            <a:rPr lang="es-CO" sz="1800" kern="100">
                              <a:effectLst/>
                              <a:latin typeface="Cambria Math" panose="02040503050406030204" pitchFamily="18" charset="0"/>
                              <a:ea typeface="Yu Mincho" panose="02020400000000000000" pitchFamily="18" charset="-128"/>
                              <a:cs typeface="Arial" panose="020B0604020202020204" pitchFamily="34" charset="0"/>
                            </a:rPr>
                            <m:t>⁡</m:t>
                          </m:r>
                          <m:r>
                            <a:rPr lang="es-CO" sz="1800" i="1" kern="100">
                              <a:effectLst/>
                              <a:latin typeface="Cambria Math" panose="02040503050406030204" pitchFamily="18" charset="0"/>
                              <a:ea typeface="Yu Mincho" panose="02020400000000000000" pitchFamily="18" charset="-128"/>
                              <a:cs typeface="Arial" panose="020B0604020202020204" pitchFamily="34" charset="0"/>
                            </a:rPr>
                            <m:t>(0)))</m:t>
                          </m:r>
                        </m:e>
                      </m:func>
                    </m:oMath>
                  </m:oMathPara>
                </a14:m>
                <a:endParaRPr lang="es-CO" sz="1800" kern="100" dirty="0">
                  <a:effectLst/>
                  <a:latin typeface="Times New Roman" panose="02020603050405020304" pitchFamily="18" charset="0"/>
                  <a:ea typeface="Aptos" panose="020B0004020202020204" pitchFamily="34" charset="0"/>
                  <a:cs typeface="Arial" panose="020B0604020202020204" pitchFamily="34" charset="0"/>
                </a:endParaRPr>
              </a:p>
            </p:txBody>
          </p:sp>
        </mc:Choice>
        <mc:Fallback xmlns="">
          <p:sp>
            <p:nvSpPr>
              <p:cNvPr id="6" name="CuadroTexto 5">
                <a:extLst>
                  <a:ext uri="{FF2B5EF4-FFF2-40B4-BE49-F238E27FC236}">
                    <a16:creationId xmlns:a16="http://schemas.microsoft.com/office/drawing/2014/main" id="{25D0E063-C6C7-9C6D-1FB4-EAF7B11EBC87}"/>
                  </a:ext>
                </a:extLst>
              </p:cNvPr>
              <p:cNvSpPr txBox="1">
                <a:spLocks noRot="1" noChangeAspect="1" noMove="1" noResize="1" noEditPoints="1" noAdjustHandles="1" noChangeArrowheads="1" noChangeShapeType="1" noTextEdit="1"/>
              </p:cNvSpPr>
              <p:nvPr/>
            </p:nvSpPr>
            <p:spPr>
              <a:xfrm>
                <a:off x="-465512" y="1966644"/>
                <a:ext cx="6118166" cy="4470839"/>
              </a:xfrm>
              <a:prstGeom prst="rect">
                <a:avLst/>
              </a:prstGeom>
              <a:blipFill>
                <a:blip r:embed="rId3"/>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FA6919A-6DAA-6A8F-ECF3-864C056E620B}"/>
                  </a:ext>
                </a:extLst>
              </p:cNvPr>
              <p:cNvSpPr txBox="1"/>
              <p:nvPr/>
            </p:nvSpPr>
            <p:spPr>
              <a:xfrm>
                <a:off x="5652654" y="1966644"/>
                <a:ext cx="6325984" cy="2151102"/>
              </a:xfrm>
              <a:prstGeom prst="rect">
                <a:avLst/>
              </a:prstGeom>
              <a:noFill/>
            </p:spPr>
            <p:txBody>
              <a:bodyPr wrap="square">
                <a:spAutoFit/>
              </a:bodyPr>
              <a:lstStyle/>
              <a:p>
                <a:pPr>
                  <a:lnSpc>
                    <a:spcPct val="115000"/>
                  </a:lnSpc>
                  <a:spcAft>
                    <a:spcPts val="800"/>
                  </a:spcAft>
                  <a:buNone/>
                </a:pPr>
                <a14:m>
                  <m:oMathPara xmlns:m="http://schemas.openxmlformats.org/officeDocument/2006/math">
                    <m:oMathParaPr>
                      <m:jc m:val="centerGroup"/>
                    </m:oMathParaPr>
                    <m:oMath xmlns:m="http://schemas.openxmlformats.org/officeDocument/2006/math">
                      <m:nary>
                        <m:naryPr>
                          <m:limLoc m:val="subSup"/>
                          <m:ctrlPr>
                            <a:rPr lang="es-CO" sz="1800" i="1" kern="100" smtClean="0">
                              <a:effectLst/>
                              <a:latin typeface="Cambria Math" panose="02040503050406030204" pitchFamily="18" charset="0"/>
                              <a:ea typeface="Yu Mincho" panose="02020400000000000000" pitchFamily="18" charset="-128"/>
                              <a:cs typeface="Arial" panose="020B0604020202020204" pitchFamily="34" charset="0"/>
                            </a:rPr>
                          </m:ctrlPr>
                        </m:naryPr>
                        <m:sub>
                          <m:r>
                            <a:rPr lang="es-CO" sz="1800" i="1" kern="100">
                              <a:effectLst/>
                              <a:latin typeface="Cambria Math" panose="02040503050406030204" pitchFamily="18" charset="0"/>
                              <a:ea typeface="Yu Mincho" panose="02020400000000000000" pitchFamily="18" charset="-128"/>
                              <a:cs typeface="Arial" panose="020B0604020202020204" pitchFamily="34" charset="0"/>
                            </a:rPr>
                            <m:t>0</m:t>
                          </m:r>
                        </m:sub>
                        <m:sup>
                          <m:r>
                            <a:rPr lang="es-CO" sz="1800" i="1" kern="100">
                              <a:effectLst/>
                              <a:latin typeface="Cambria Math" panose="02040503050406030204" pitchFamily="18" charset="0"/>
                              <a:ea typeface="Yu Mincho" panose="02020400000000000000" pitchFamily="18" charset="-128"/>
                              <a:cs typeface="Arial" panose="020B0604020202020204" pitchFamily="34" charset="0"/>
                            </a:rPr>
                            <m:t>2</m:t>
                          </m:r>
                          <m:r>
                            <a:rPr lang="es-CO" sz="1800" i="1" kern="100">
                              <a:effectLst/>
                              <a:latin typeface="Cambria Math" panose="02040503050406030204" pitchFamily="18" charset="0"/>
                              <a:ea typeface="Yu Mincho" panose="02020400000000000000" pitchFamily="18" charset="-128"/>
                              <a:cs typeface="Arial" panose="020B0604020202020204" pitchFamily="34" charset="0"/>
                            </a:rPr>
                            <m:t>𝜋</m:t>
                          </m:r>
                        </m:sup>
                        <m:e>
                          <m:r>
                            <a:rPr lang="es-CO" sz="1800" i="1" kern="100">
                              <a:effectLst/>
                              <a:latin typeface="Cambria Math" panose="02040503050406030204" pitchFamily="18" charset="0"/>
                              <a:ea typeface="Yu Mincho" panose="02020400000000000000" pitchFamily="18" charset="-128"/>
                              <a:cs typeface="Arial" panose="020B0604020202020204" pitchFamily="34" charset="0"/>
                            </a:rPr>
                            <m:t>205.02</m:t>
                          </m:r>
                          <m:r>
                            <a:rPr lang="es-CO" sz="1800" i="1" kern="100">
                              <a:effectLst/>
                              <a:latin typeface="Cambria Math" panose="02040503050406030204" pitchFamily="18" charset="0"/>
                              <a:ea typeface="Yu Mincho" panose="02020400000000000000" pitchFamily="18" charset="-128"/>
                              <a:cs typeface="Arial" panose="020B0604020202020204" pitchFamily="34" charset="0"/>
                            </a:rPr>
                            <m:t>𝑑</m:t>
                          </m:r>
                          <m:r>
                            <a:rPr lang="es-CO" sz="1800" i="1" kern="100">
                              <a:effectLst/>
                              <a:latin typeface="Cambria Math" panose="02040503050406030204" pitchFamily="18" charset="0"/>
                              <a:ea typeface="Yu Mincho" panose="02020400000000000000" pitchFamily="18" charset="-128"/>
                              <a:cs typeface="Arial" panose="020B0604020202020204" pitchFamily="34" charset="0"/>
                            </a:rPr>
                            <m:t>𝜃</m:t>
                          </m:r>
                        </m:e>
                      </m:nary>
                    </m:oMath>
                  </m:oMathPara>
                </a14:m>
                <a:endParaRPr lang="es-CO" sz="1800" kern="100" dirty="0">
                  <a:effectLst/>
                  <a:latin typeface="Times New Roman" panose="02020603050405020304" pitchFamily="18" charset="0"/>
                  <a:ea typeface="Aptos" panose="020B0004020202020204" pitchFamily="34" charset="0"/>
                  <a:cs typeface="Arial" panose="020B0604020202020204" pitchFamily="34" charset="0"/>
                </a:endParaRPr>
              </a:p>
              <a:p>
                <a:pPr>
                  <a:lnSpc>
                    <a:spcPct val="115000"/>
                  </a:lnSpc>
                  <a:spcAft>
                    <a:spcPts val="800"/>
                  </a:spcAft>
                  <a:buNone/>
                </a:pPr>
                <a14:m>
                  <m:oMathPara xmlns:m="http://schemas.openxmlformats.org/officeDocument/2006/math">
                    <m:oMathParaPr>
                      <m:jc m:val="centerGroup"/>
                    </m:oMathParaPr>
                    <m:oMath xmlns:m="http://schemas.openxmlformats.org/officeDocument/2006/math">
                      <m:r>
                        <a:rPr lang="es-CO" sz="1800" i="1" kern="100">
                          <a:effectLst/>
                          <a:latin typeface="Cambria Math" panose="02040503050406030204" pitchFamily="18" charset="0"/>
                          <a:ea typeface="Yu Mincho" panose="02020400000000000000" pitchFamily="18" charset="-128"/>
                          <a:cs typeface="Arial" panose="020B0604020202020204" pitchFamily="34" charset="0"/>
                        </a:rPr>
                        <m:t>205.02</m:t>
                      </m:r>
                      <m:nary>
                        <m:naryPr>
                          <m:limLoc m:val="subSup"/>
                          <m:ctrlPr>
                            <a:rPr lang="es-CO" sz="1800" i="1" kern="100">
                              <a:effectLst/>
                              <a:latin typeface="Cambria Math" panose="02040503050406030204" pitchFamily="18" charset="0"/>
                              <a:ea typeface="Yu Mincho" panose="02020400000000000000" pitchFamily="18" charset="-128"/>
                              <a:cs typeface="Arial" panose="020B0604020202020204" pitchFamily="34" charset="0"/>
                            </a:rPr>
                          </m:ctrlPr>
                        </m:naryPr>
                        <m:sub>
                          <m:r>
                            <a:rPr lang="es-CO" sz="1800" i="1" kern="100">
                              <a:effectLst/>
                              <a:latin typeface="Cambria Math" panose="02040503050406030204" pitchFamily="18" charset="0"/>
                              <a:ea typeface="Yu Mincho" panose="02020400000000000000" pitchFamily="18" charset="-128"/>
                              <a:cs typeface="Arial" panose="020B0604020202020204" pitchFamily="34" charset="0"/>
                            </a:rPr>
                            <m:t>0</m:t>
                          </m:r>
                        </m:sub>
                        <m:sup>
                          <m:r>
                            <a:rPr lang="es-CO" sz="1800" i="1" kern="100">
                              <a:effectLst/>
                              <a:latin typeface="Cambria Math" panose="02040503050406030204" pitchFamily="18" charset="0"/>
                              <a:ea typeface="Yu Mincho" panose="02020400000000000000" pitchFamily="18" charset="-128"/>
                              <a:cs typeface="Arial" panose="020B0604020202020204" pitchFamily="34" charset="0"/>
                            </a:rPr>
                            <m:t>2</m:t>
                          </m:r>
                          <m:r>
                            <a:rPr lang="es-CO" sz="1800" i="1" kern="100">
                              <a:effectLst/>
                              <a:latin typeface="Cambria Math" panose="02040503050406030204" pitchFamily="18" charset="0"/>
                              <a:ea typeface="Yu Mincho" panose="02020400000000000000" pitchFamily="18" charset="-128"/>
                              <a:cs typeface="Arial" panose="020B0604020202020204" pitchFamily="34" charset="0"/>
                            </a:rPr>
                            <m:t>𝜋</m:t>
                          </m:r>
                        </m:sup>
                        <m:e>
                          <m:r>
                            <a:rPr lang="es-CO" sz="1800" i="1" kern="100">
                              <a:effectLst/>
                              <a:latin typeface="Cambria Math" panose="02040503050406030204" pitchFamily="18" charset="0"/>
                              <a:ea typeface="Yu Mincho" panose="02020400000000000000" pitchFamily="18" charset="-128"/>
                              <a:cs typeface="Arial" panose="020B0604020202020204" pitchFamily="34" charset="0"/>
                            </a:rPr>
                            <m:t>𝑑</m:t>
                          </m:r>
                          <m:r>
                            <a:rPr lang="es-CO" sz="1800" i="1" kern="100">
                              <a:effectLst/>
                              <a:latin typeface="Cambria Math" panose="02040503050406030204" pitchFamily="18" charset="0"/>
                              <a:ea typeface="Yu Mincho" panose="02020400000000000000" pitchFamily="18" charset="-128"/>
                              <a:cs typeface="Arial" panose="020B0604020202020204" pitchFamily="34" charset="0"/>
                            </a:rPr>
                            <m:t>𝜃</m:t>
                          </m:r>
                        </m:e>
                      </m:nary>
                    </m:oMath>
                  </m:oMathPara>
                </a14:m>
                <a:endParaRPr lang="es-CO" sz="1800" kern="100" dirty="0">
                  <a:effectLst/>
                  <a:latin typeface="Times New Roman" panose="02020603050405020304" pitchFamily="18" charset="0"/>
                  <a:ea typeface="Aptos" panose="020B0004020202020204" pitchFamily="34" charset="0"/>
                  <a:cs typeface="Arial" panose="020B0604020202020204" pitchFamily="34" charset="0"/>
                </a:endParaRPr>
              </a:p>
              <a:p>
                <a:pPr>
                  <a:lnSpc>
                    <a:spcPct val="115000"/>
                  </a:lnSpc>
                  <a:spcAft>
                    <a:spcPts val="800"/>
                  </a:spcAft>
                  <a:buNone/>
                </a:pPr>
                <a14:m>
                  <m:oMathPara xmlns:m="http://schemas.openxmlformats.org/officeDocument/2006/math">
                    <m:oMathParaPr>
                      <m:jc m:val="centerGroup"/>
                    </m:oMathParaPr>
                    <m:oMath xmlns:m="http://schemas.openxmlformats.org/officeDocument/2006/math">
                      <m:r>
                        <a:rPr lang="es-CO" sz="1800" i="1" kern="100">
                          <a:effectLst/>
                          <a:latin typeface="Cambria Math" panose="02040503050406030204" pitchFamily="18" charset="0"/>
                          <a:ea typeface="Yu Mincho" panose="02020400000000000000" pitchFamily="18" charset="-128"/>
                          <a:cs typeface="Arial" panose="020B0604020202020204" pitchFamily="34" charset="0"/>
                        </a:rPr>
                        <m:t>205.02</m:t>
                      </m:r>
                      <m:d>
                        <m:dPr>
                          <m:ctrlPr>
                            <a:rPr lang="es-CO" sz="1800" i="1" kern="100">
                              <a:effectLst/>
                              <a:latin typeface="Cambria Math" panose="02040503050406030204" pitchFamily="18" charset="0"/>
                              <a:ea typeface="Yu Mincho" panose="02020400000000000000" pitchFamily="18" charset="-128"/>
                              <a:cs typeface="Arial" panose="020B0604020202020204" pitchFamily="34" charset="0"/>
                            </a:rPr>
                          </m:ctrlPr>
                        </m:dPr>
                        <m:e>
                          <m:r>
                            <a:rPr lang="es-CO" sz="1800" i="1" kern="100">
                              <a:effectLst/>
                              <a:latin typeface="Cambria Math" panose="02040503050406030204" pitchFamily="18" charset="0"/>
                              <a:ea typeface="Yu Mincho" panose="02020400000000000000" pitchFamily="18" charset="-128"/>
                              <a:cs typeface="Arial" panose="020B0604020202020204" pitchFamily="34" charset="0"/>
                            </a:rPr>
                            <m:t>2</m:t>
                          </m:r>
                          <m:r>
                            <a:rPr lang="es-CO" sz="1800" i="1" kern="100">
                              <a:effectLst/>
                              <a:latin typeface="Cambria Math" panose="02040503050406030204" pitchFamily="18" charset="0"/>
                              <a:ea typeface="Yu Mincho" panose="02020400000000000000" pitchFamily="18" charset="-128"/>
                              <a:cs typeface="Arial" panose="020B0604020202020204" pitchFamily="34" charset="0"/>
                            </a:rPr>
                            <m:t>𝜋</m:t>
                          </m:r>
                        </m:e>
                      </m:d>
                      <m:r>
                        <a:rPr lang="es-CO" sz="1800" i="1" kern="100">
                          <a:effectLst/>
                          <a:latin typeface="Cambria Math" panose="02040503050406030204" pitchFamily="18" charset="0"/>
                          <a:ea typeface="Yu Mincho" panose="02020400000000000000" pitchFamily="18" charset="-128"/>
                          <a:cs typeface="Arial" panose="020B0604020202020204" pitchFamily="34" charset="0"/>
                        </a:rPr>
                        <m:t>=1288.17</m:t>
                      </m:r>
                    </m:oMath>
                  </m:oMathPara>
                </a14:m>
                <a:endParaRPr lang="es-CO" sz="1800" kern="100" dirty="0">
                  <a:effectLst/>
                  <a:latin typeface="Times New Roman" panose="02020603050405020304" pitchFamily="18" charset="0"/>
                  <a:ea typeface="Aptos" panose="020B0004020202020204" pitchFamily="34" charset="0"/>
                  <a:cs typeface="Arial" panose="020B0604020202020204" pitchFamily="34" charset="0"/>
                </a:endParaRPr>
              </a:p>
            </p:txBody>
          </p:sp>
        </mc:Choice>
        <mc:Fallback xmlns="">
          <p:sp>
            <p:nvSpPr>
              <p:cNvPr id="8" name="CuadroTexto 7">
                <a:extLst>
                  <a:ext uri="{FF2B5EF4-FFF2-40B4-BE49-F238E27FC236}">
                    <a16:creationId xmlns:a16="http://schemas.microsoft.com/office/drawing/2014/main" id="{EFA6919A-6DAA-6A8F-ECF3-864C056E620B}"/>
                  </a:ext>
                </a:extLst>
              </p:cNvPr>
              <p:cNvSpPr txBox="1">
                <a:spLocks noRot="1" noChangeAspect="1" noMove="1" noResize="1" noEditPoints="1" noAdjustHandles="1" noChangeArrowheads="1" noChangeShapeType="1" noTextEdit="1"/>
              </p:cNvSpPr>
              <p:nvPr/>
            </p:nvSpPr>
            <p:spPr>
              <a:xfrm>
                <a:off x="5652654" y="1966644"/>
                <a:ext cx="6325984" cy="2151102"/>
              </a:xfrm>
              <a:prstGeom prst="rect">
                <a:avLst/>
              </a:prstGeom>
              <a:blipFill>
                <a:blip r:embed="rId4"/>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6707956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C6C35BA-6720-D871-15EC-CD971D53D713}"/>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1FD6CDA1-59A1-717E-5C00-EFB2C3827546}"/>
              </a:ext>
            </a:extLst>
          </p:cNvPr>
          <p:cNvSpPr txBox="1"/>
          <p:nvPr/>
        </p:nvSpPr>
        <p:spPr>
          <a:xfrm>
            <a:off x="312433" y="420517"/>
            <a:ext cx="8809081" cy="553998"/>
          </a:xfrm>
          <a:prstGeom prst="rect">
            <a:avLst/>
          </a:prstGeom>
          <a:noFill/>
        </p:spPr>
        <p:txBody>
          <a:bodyPr wrap="square" rtlCol="0">
            <a:spAutoFit/>
          </a:bodyPr>
          <a:lstStyle/>
          <a:p>
            <a:r>
              <a:rPr lang="es-CO" sz="3000" b="1" noProof="0" dirty="0">
                <a:solidFill>
                  <a:schemeClr val="bg1"/>
                </a:solidFill>
                <a:latin typeface="Tahoma" panose="020B0604030504040204" pitchFamily="34" charset="0"/>
                <a:ea typeface="Tahoma" panose="020B0604030504040204" pitchFamily="34" charset="0"/>
                <a:cs typeface="Tahoma" panose="020B0604030504040204" pitchFamily="34" charset="0"/>
              </a:rPr>
              <a:t>Resultados</a:t>
            </a:r>
          </a:p>
        </p:txBody>
      </p:sp>
      <p:sp>
        <p:nvSpPr>
          <p:cNvPr id="4" name="CuadroTexto 3">
            <a:extLst>
              <a:ext uri="{FF2B5EF4-FFF2-40B4-BE49-F238E27FC236}">
                <a16:creationId xmlns:a16="http://schemas.microsoft.com/office/drawing/2014/main" id="{120B6DA3-B10B-74DC-DC8A-B8688A303464}"/>
              </a:ext>
            </a:extLst>
          </p:cNvPr>
          <p:cNvSpPr txBox="1"/>
          <p:nvPr/>
        </p:nvSpPr>
        <p:spPr>
          <a:xfrm>
            <a:off x="0" y="1350994"/>
            <a:ext cx="11776016" cy="369332"/>
          </a:xfrm>
          <a:prstGeom prst="rect">
            <a:avLst/>
          </a:prstGeom>
          <a:noFill/>
        </p:spPr>
        <p:txBody>
          <a:bodyPr wrap="square">
            <a:spAutoFit/>
          </a:bodyPr>
          <a:lstStyle/>
          <a:p>
            <a:r>
              <a:rPr lang="es-MX" b="1"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Cálculo del casquete esférico:</a:t>
            </a:r>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4D4CA48B-2938-0C15-A812-464B8B656087}"/>
                  </a:ext>
                </a:extLst>
              </p:cNvPr>
              <p:cNvSpPr txBox="1"/>
              <p:nvPr/>
            </p:nvSpPr>
            <p:spPr>
              <a:xfrm>
                <a:off x="-565265" y="2298436"/>
                <a:ext cx="6118166" cy="2839239"/>
              </a:xfrm>
              <a:prstGeom prst="rect">
                <a:avLst/>
              </a:prstGeom>
              <a:noFill/>
            </p:spPr>
            <p:txBody>
              <a:bodyPr wrap="square">
                <a:spAutoFit/>
              </a:bodyPr>
              <a:lstStyle/>
              <a:p>
                <a:pPr>
                  <a:lnSpc>
                    <a:spcPct val="115000"/>
                  </a:lnSpc>
                  <a:spcAft>
                    <a:spcPts val="800"/>
                  </a:spcAft>
                  <a:buNone/>
                  <a:tabLst>
                    <a:tab pos="1066800" algn="l"/>
                  </a:tabLst>
                </a:pPr>
                <a14:m>
                  <m:oMathPara xmlns:m="http://schemas.openxmlformats.org/officeDocument/2006/math">
                    <m:oMathParaPr>
                      <m:jc m:val="centerGroup"/>
                    </m:oMathParaPr>
                    <m:oMath xmlns:m="http://schemas.openxmlformats.org/officeDocument/2006/math">
                      <m:r>
                        <a:rPr lang="es-CO" sz="1800" i="1" kern="100" smtClean="0">
                          <a:effectLst/>
                          <a:latin typeface="Cambria Math" panose="02040503050406030204" pitchFamily="18" charset="0"/>
                          <a:ea typeface="Yu Mincho" panose="02020400000000000000" pitchFamily="18" charset="-128"/>
                          <a:cs typeface="Arial" panose="020B0604020202020204" pitchFamily="34" charset="0"/>
                        </a:rPr>
                        <m:t>𝑉</m:t>
                      </m:r>
                      <m:r>
                        <a:rPr lang="es-CO" sz="1800" i="1" kern="100" smtClean="0">
                          <a:effectLst/>
                          <a:latin typeface="Cambria Math" panose="02040503050406030204" pitchFamily="18" charset="0"/>
                          <a:ea typeface="Yu Mincho" panose="02020400000000000000" pitchFamily="18" charset="-128"/>
                          <a:cs typeface="Arial" panose="020B0604020202020204" pitchFamily="34" charset="0"/>
                        </a:rPr>
                        <m:t>=</m:t>
                      </m:r>
                      <m:f>
                        <m:fPr>
                          <m:ctrlPr>
                            <a:rPr lang="es-CO" sz="1800" i="1" kern="100">
                              <a:effectLst/>
                              <a:latin typeface="Cambria Math" panose="02040503050406030204" pitchFamily="18" charset="0"/>
                              <a:ea typeface="Yu Mincho" panose="02020400000000000000" pitchFamily="18" charset="-128"/>
                              <a:cs typeface="Arial" panose="020B0604020202020204" pitchFamily="34" charset="0"/>
                            </a:rPr>
                          </m:ctrlPr>
                        </m:fPr>
                        <m:num>
                          <m:r>
                            <a:rPr lang="es-CO" sz="1800" i="1" kern="100">
                              <a:effectLst/>
                              <a:latin typeface="Cambria Math" panose="02040503050406030204" pitchFamily="18" charset="0"/>
                              <a:ea typeface="Yu Mincho" panose="02020400000000000000" pitchFamily="18" charset="-128"/>
                              <a:cs typeface="Arial" panose="020B0604020202020204" pitchFamily="34" charset="0"/>
                            </a:rPr>
                            <m:t>𝜋</m:t>
                          </m:r>
                          <m:r>
                            <a:rPr lang="es-CO" sz="1800" i="1" kern="100">
                              <a:effectLst/>
                              <a:latin typeface="Cambria Math" panose="02040503050406030204" pitchFamily="18" charset="0"/>
                              <a:ea typeface="Yu Mincho" panose="02020400000000000000" pitchFamily="18" charset="-128"/>
                              <a:cs typeface="Arial" panose="020B0604020202020204" pitchFamily="34" charset="0"/>
                            </a:rPr>
                            <m:t>×</m:t>
                          </m:r>
                          <m:sSup>
                            <m:sSupPr>
                              <m:ctrlPr>
                                <a:rPr lang="es-CO" sz="1800" i="1" kern="100">
                                  <a:effectLst/>
                                  <a:latin typeface="Cambria Math" panose="02040503050406030204" pitchFamily="18" charset="0"/>
                                  <a:ea typeface="Yu Mincho" panose="02020400000000000000" pitchFamily="18" charset="-128"/>
                                  <a:cs typeface="Arial" panose="020B0604020202020204" pitchFamily="34" charset="0"/>
                                </a:rPr>
                              </m:ctrlPr>
                            </m:sSupPr>
                            <m:e>
                              <m:r>
                                <a:rPr lang="es-CO" sz="1800" i="1" kern="100">
                                  <a:effectLst/>
                                  <a:latin typeface="Cambria Math" panose="02040503050406030204" pitchFamily="18" charset="0"/>
                                  <a:ea typeface="Yu Mincho" panose="02020400000000000000" pitchFamily="18" charset="-128"/>
                                  <a:cs typeface="Arial" panose="020B0604020202020204" pitchFamily="34" charset="0"/>
                                </a:rPr>
                                <m:t>h</m:t>
                              </m:r>
                            </m:e>
                            <m:sup>
                              <m:r>
                                <a:rPr lang="es-CO" sz="1800" i="1" kern="100">
                                  <a:effectLst/>
                                  <a:latin typeface="Cambria Math" panose="02040503050406030204" pitchFamily="18" charset="0"/>
                                  <a:ea typeface="Yu Mincho" panose="02020400000000000000" pitchFamily="18" charset="-128"/>
                                  <a:cs typeface="Arial" panose="020B0604020202020204" pitchFamily="34" charset="0"/>
                                </a:rPr>
                                <m:t>2</m:t>
                              </m:r>
                            </m:sup>
                          </m:sSup>
                          <m:r>
                            <a:rPr lang="es-CO" sz="1800" i="1" kern="100">
                              <a:effectLst/>
                              <a:latin typeface="Cambria Math" panose="02040503050406030204" pitchFamily="18" charset="0"/>
                              <a:ea typeface="Yu Mincho" panose="02020400000000000000" pitchFamily="18" charset="-128"/>
                              <a:cs typeface="Arial" panose="020B0604020202020204" pitchFamily="34" charset="0"/>
                            </a:rPr>
                            <m:t>(3</m:t>
                          </m:r>
                          <m:r>
                            <a:rPr lang="es-CO" sz="1800" i="1" kern="100">
                              <a:effectLst/>
                              <a:latin typeface="Cambria Math" panose="02040503050406030204" pitchFamily="18" charset="0"/>
                              <a:ea typeface="Yu Mincho" panose="02020400000000000000" pitchFamily="18" charset="-128"/>
                              <a:cs typeface="Arial" panose="020B0604020202020204" pitchFamily="34" charset="0"/>
                            </a:rPr>
                            <m:t>𝑅</m:t>
                          </m:r>
                          <m:r>
                            <a:rPr lang="es-CO" sz="1800" i="1" kern="100">
                              <a:effectLst/>
                              <a:latin typeface="Cambria Math" panose="02040503050406030204" pitchFamily="18" charset="0"/>
                              <a:ea typeface="Yu Mincho" panose="02020400000000000000" pitchFamily="18" charset="-128"/>
                              <a:cs typeface="Arial" panose="020B0604020202020204" pitchFamily="34" charset="0"/>
                            </a:rPr>
                            <m:t>−</m:t>
                          </m:r>
                          <m:r>
                            <a:rPr lang="es-CO" sz="1800" i="1" kern="100">
                              <a:effectLst/>
                              <a:latin typeface="Cambria Math" panose="02040503050406030204" pitchFamily="18" charset="0"/>
                              <a:ea typeface="Yu Mincho" panose="02020400000000000000" pitchFamily="18" charset="-128"/>
                              <a:cs typeface="Arial" panose="020B0604020202020204" pitchFamily="34" charset="0"/>
                            </a:rPr>
                            <m:t>h</m:t>
                          </m:r>
                          <m:r>
                            <a:rPr lang="es-CO" sz="1800" i="1" kern="100">
                              <a:effectLst/>
                              <a:latin typeface="Cambria Math" panose="02040503050406030204" pitchFamily="18" charset="0"/>
                              <a:ea typeface="Yu Mincho" panose="02020400000000000000" pitchFamily="18" charset="-128"/>
                              <a:cs typeface="Arial" panose="020B0604020202020204" pitchFamily="34" charset="0"/>
                            </a:rPr>
                            <m:t>)</m:t>
                          </m:r>
                        </m:num>
                        <m:den>
                          <m:r>
                            <a:rPr lang="es-CO" sz="1800" i="1" kern="100">
                              <a:effectLst/>
                              <a:latin typeface="Cambria Math" panose="02040503050406030204" pitchFamily="18" charset="0"/>
                              <a:ea typeface="Yu Mincho" panose="02020400000000000000" pitchFamily="18" charset="-128"/>
                              <a:cs typeface="Arial" panose="020B0604020202020204" pitchFamily="34" charset="0"/>
                            </a:rPr>
                            <m:t>3</m:t>
                          </m:r>
                        </m:den>
                      </m:f>
                    </m:oMath>
                  </m:oMathPara>
                </a14:m>
                <a:endParaRPr lang="es-CO" sz="1800" kern="100" dirty="0">
                  <a:effectLst/>
                  <a:latin typeface="Times New Roman" panose="02020603050405020304" pitchFamily="18" charset="0"/>
                  <a:ea typeface="Aptos" panose="020B0004020202020204" pitchFamily="34" charset="0"/>
                  <a:cs typeface="Arial" panose="020B0604020202020204" pitchFamily="34" charset="0"/>
                </a:endParaRPr>
              </a:p>
              <a:p>
                <a:pPr>
                  <a:lnSpc>
                    <a:spcPct val="115000"/>
                  </a:lnSpc>
                  <a:spcAft>
                    <a:spcPts val="800"/>
                  </a:spcAft>
                  <a:buNone/>
                </a:pPr>
                <a:r>
                  <a:rPr lang="es-CO" sz="1800" kern="100" dirty="0">
                    <a:effectLst/>
                    <a:latin typeface="Times New Roman" panose="02020603050405020304" pitchFamily="18" charset="0"/>
                    <a:ea typeface="Yu Mincho" panose="02020400000000000000" pitchFamily="18" charset="-128"/>
                    <a:cs typeface="Arial" panose="020B0604020202020204" pitchFamily="34" charset="0"/>
                  </a:rPr>
                  <a:t> </a:t>
                </a:r>
                <a:endParaRPr lang="es-CO" sz="1800" kern="100" dirty="0">
                  <a:effectLst/>
                  <a:latin typeface="Times New Roman" panose="02020603050405020304" pitchFamily="18" charset="0"/>
                  <a:ea typeface="Aptos" panose="020B0004020202020204" pitchFamily="34" charset="0"/>
                  <a:cs typeface="Arial" panose="020B0604020202020204" pitchFamily="34" charset="0"/>
                </a:endParaRPr>
              </a:p>
              <a:p>
                <a:pPr>
                  <a:lnSpc>
                    <a:spcPct val="115000"/>
                  </a:lnSpc>
                  <a:spcAft>
                    <a:spcPts val="800"/>
                  </a:spcAft>
                  <a:buNone/>
                </a:pPr>
                <a14:m>
                  <m:oMathPara xmlns:m="http://schemas.openxmlformats.org/officeDocument/2006/math">
                    <m:oMathParaPr>
                      <m:jc m:val="centerGroup"/>
                    </m:oMathParaPr>
                    <m:oMath xmlns:m="http://schemas.openxmlformats.org/officeDocument/2006/math">
                      <m:r>
                        <a:rPr lang="es-CO" sz="1800" i="1" kern="100">
                          <a:effectLst/>
                          <a:latin typeface="Cambria Math" panose="02040503050406030204" pitchFamily="18" charset="0"/>
                          <a:ea typeface="Yu Mincho" panose="02020400000000000000" pitchFamily="18" charset="-128"/>
                          <a:cs typeface="Arial" panose="020B0604020202020204" pitchFamily="34" charset="0"/>
                        </a:rPr>
                        <m:t>𝑉</m:t>
                      </m:r>
                      <m:r>
                        <a:rPr lang="es-CO" sz="1800" i="1" kern="100">
                          <a:effectLst/>
                          <a:latin typeface="Cambria Math" panose="02040503050406030204" pitchFamily="18" charset="0"/>
                          <a:ea typeface="Yu Mincho" panose="02020400000000000000" pitchFamily="18" charset="-128"/>
                          <a:cs typeface="Arial" panose="020B0604020202020204" pitchFamily="34" charset="0"/>
                        </a:rPr>
                        <m:t>=</m:t>
                      </m:r>
                      <m:f>
                        <m:fPr>
                          <m:ctrlPr>
                            <a:rPr lang="es-CO" sz="1800" i="1" kern="100">
                              <a:effectLst/>
                              <a:latin typeface="Cambria Math" panose="02040503050406030204" pitchFamily="18" charset="0"/>
                              <a:ea typeface="Yu Mincho" panose="02020400000000000000" pitchFamily="18" charset="-128"/>
                              <a:cs typeface="Arial" panose="020B0604020202020204" pitchFamily="34" charset="0"/>
                            </a:rPr>
                          </m:ctrlPr>
                        </m:fPr>
                        <m:num>
                          <m:r>
                            <a:rPr lang="es-CO" sz="1800" i="1" kern="100">
                              <a:effectLst/>
                              <a:latin typeface="Cambria Math" panose="02040503050406030204" pitchFamily="18" charset="0"/>
                              <a:ea typeface="Yu Mincho" panose="02020400000000000000" pitchFamily="18" charset="-128"/>
                              <a:cs typeface="Arial" panose="020B0604020202020204" pitchFamily="34" charset="0"/>
                            </a:rPr>
                            <m:t>𝜋</m:t>
                          </m:r>
                          <m:r>
                            <a:rPr lang="es-CO" sz="1800" i="1" kern="100">
                              <a:effectLst/>
                              <a:latin typeface="Cambria Math" panose="02040503050406030204" pitchFamily="18" charset="0"/>
                              <a:ea typeface="Yu Mincho" panose="02020400000000000000" pitchFamily="18" charset="-128"/>
                              <a:cs typeface="Arial" panose="020B0604020202020204" pitchFamily="34" charset="0"/>
                            </a:rPr>
                            <m:t>(13.5</m:t>
                          </m:r>
                          <m:sSup>
                            <m:sSupPr>
                              <m:ctrlPr>
                                <a:rPr lang="es-CO" sz="1800" i="1" kern="100">
                                  <a:effectLst/>
                                  <a:latin typeface="Cambria Math" panose="02040503050406030204" pitchFamily="18" charset="0"/>
                                  <a:ea typeface="Yu Mincho" panose="02020400000000000000" pitchFamily="18" charset="-128"/>
                                  <a:cs typeface="Arial" panose="020B0604020202020204" pitchFamily="34" charset="0"/>
                                </a:rPr>
                              </m:ctrlPr>
                            </m:sSupPr>
                            <m:e>
                              <m:r>
                                <a:rPr lang="es-CO" sz="1800" i="1" kern="100">
                                  <a:effectLst/>
                                  <a:latin typeface="Cambria Math" panose="02040503050406030204" pitchFamily="18" charset="0"/>
                                  <a:ea typeface="Yu Mincho" panose="02020400000000000000" pitchFamily="18" charset="-128"/>
                                  <a:cs typeface="Arial" panose="020B0604020202020204" pitchFamily="34" charset="0"/>
                                </a:rPr>
                                <m:t>)</m:t>
                              </m:r>
                            </m:e>
                            <m:sup>
                              <m:r>
                                <a:rPr lang="es-CO" sz="1800" i="1" kern="100">
                                  <a:effectLst/>
                                  <a:latin typeface="Cambria Math" panose="02040503050406030204" pitchFamily="18" charset="0"/>
                                  <a:ea typeface="Yu Mincho" panose="02020400000000000000" pitchFamily="18" charset="-128"/>
                                  <a:cs typeface="Arial" panose="020B0604020202020204" pitchFamily="34" charset="0"/>
                                </a:rPr>
                                <m:t>2</m:t>
                              </m:r>
                            </m:sup>
                          </m:sSup>
                          <m:r>
                            <a:rPr lang="es-CO" sz="1800" i="1" kern="100">
                              <a:effectLst/>
                              <a:latin typeface="Cambria Math" panose="02040503050406030204" pitchFamily="18" charset="0"/>
                              <a:ea typeface="Yu Mincho" panose="02020400000000000000" pitchFamily="18" charset="-128"/>
                              <a:cs typeface="Arial" panose="020B0604020202020204" pitchFamily="34" charset="0"/>
                            </a:rPr>
                            <m:t>(3</m:t>
                          </m:r>
                          <m:d>
                            <m:dPr>
                              <m:ctrlPr>
                                <a:rPr lang="es-CO" sz="1800" i="1" kern="100">
                                  <a:effectLst/>
                                  <a:latin typeface="Cambria Math" panose="02040503050406030204" pitchFamily="18" charset="0"/>
                                  <a:ea typeface="Yu Mincho" panose="02020400000000000000" pitchFamily="18" charset="-128"/>
                                  <a:cs typeface="Arial" panose="020B0604020202020204" pitchFamily="34" charset="0"/>
                                </a:rPr>
                              </m:ctrlPr>
                            </m:dPr>
                            <m:e>
                              <m:r>
                                <a:rPr lang="es-CO" sz="1800" i="1" kern="100">
                                  <a:effectLst/>
                                  <a:latin typeface="Cambria Math" panose="02040503050406030204" pitchFamily="18" charset="0"/>
                                  <a:ea typeface="Yu Mincho" panose="02020400000000000000" pitchFamily="18" charset="-128"/>
                                  <a:cs typeface="Arial" panose="020B0604020202020204" pitchFamily="34" charset="0"/>
                                </a:rPr>
                                <m:t>6.75</m:t>
                              </m:r>
                            </m:e>
                          </m:d>
                          <m:r>
                            <a:rPr lang="es-CO" sz="1800" i="1" kern="100">
                              <a:effectLst/>
                              <a:latin typeface="Cambria Math" panose="02040503050406030204" pitchFamily="18" charset="0"/>
                              <a:ea typeface="Yu Mincho" panose="02020400000000000000" pitchFamily="18" charset="-128"/>
                              <a:cs typeface="Arial" panose="020B0604020202020204" pitchFamily="34" charset="0"/>
                            </a:rPr>
                            <m:t>−13.5)</m:t>
                          </m:r>
                        </m:num>
                        <m:den>
                          <m:r>
                            <a:rPr lang="es-CO" sz="1800" i="1" kern="100">
                              <a:effectLst/>
                              <a:latin typeface="Cambria Math" panose="02040503050406030204" pitchFamily="18" charset="0"/>
                              <a:ea typeface="Yu Mincho" panose="02020400000000000000" pitchFamily="18" charset="-128"/>
                              <a:cs typeface="Arial" panose="020B0604020202020204" pitchFamily="34" charset="0"/>
                            </a:rPr>
                            <m:t>3</m:t>
                          </m:r>
                        </m:den>
                      </m:f>
                    </m:oMath>
                  </m:oMathPara>
                </a14:m>
                <a:endParaRPr lang="es-CO" sz="1800" kern="100" dirty="0">
                  <a:effectLst/>
                  <a:latin typeface="Times New Roman" panose="02020603050405020304" pitchFamily="18" charset="0"/>
                  <a:ea typeface="Aptos" panose="020B0004020202020204" pitchFamily="34" charset="0"/>
                  <a:cs typeface="Arial" panose="020B0604020202020204" pitchFamily="34" charset="0"/>
                </a:endParaRPr>
              </a:p>
              <a:p>
                <a:pPr>
                  <a:lnSpc>
                    <a:spcPct val="115000"/>
                  </a:lnSpc>
                  <a:spcAft>
                    <a:spcPts val="800"/>
                  </a:spcAft>
                  <a:buNone/>
                </a:pPr>
                <a:r>
                  <a:rPr lang="es-CO" sz="1800" kern="100" dirty="0">
                    <a:effectLst/>
                    <a:latin typeface="Times New Roman" panose="02020603050405020304" pitchFamily="18" charset="0"/>
                    <a:ea typeface="Yu Mincho" panose="02020400000000000000" pitchFamily="18" charset="-128"/>
                    <a:cs typeface="Arial" panose="020B0604020202020204" pitchFamily="34" charset="0"/>
                  </a:rPr>
                  <a:t> </a:t>
                </a:r>
                <a:endParaRPr lang="es-CO" sz="1800" kern="100" dirty="0">
                  <a:effectLst/>
                  <a:latin typeface="Times New Roman" panose="02020603050405020304" pitchFamily="18" charset="0"/>
                  <a:ea typeface="Aptos" panose="020B0004020202020204" pitchFamily="34" charset="0"/>
                  <a:cs typeface="Arial" panose="020B0604020202020204" pitchFamily="34" charset="0"/>
                </a:endParaRPr>
              </a:p>
              <a:p>
                <a:pPr>
                  <a:lnSpc>
                    <a:spcPct val="115000"/>
                  </a:lnSpc>
                  <a:spcAft>
                    <a:spcPts val="800"/>
                  </a:spcAft>
                  <a:buNone/>
                </a:pPr>
                <a14:m>
                  <m:oMathPara xmlns:m="http://schemas.openxmlformats.org/officeDocument/2006/math">
                    <m:oMathParaPr>
                      <m:jc m:val="centerGroup"/>
                    </m:oMathParaPr>
                    <m:oMath xmlns:m="http://schemas.openxmlformats.org/officeDocument/2006/math">
                      <m:r>
                        <a:rPr lang="es-CO" sz="1800" i="1" kern="100">
                          <a:effectLst/>
                          <a:latin typeface="Cambria Math" panose="02040503050406030204" pitchFamily="18" charset="0"/>
                          <a:ea typeface="Yu Mincho" panose="02020400000000000000" pitchFamily="18" charset="-128"/>
                          <a:cs typeface="Arial" panose="020B0604020202020204" pitchFamily="34" charset="0"/>
                        </a:rPr>
                        <m:t>𝑉</m:t>
                      </m:r>
                      <m:r>
                        <a:rPr lang="es-CO" sz="1800" i="1" kern="100">
                          <a:effectLst/>
                          <a:latin typeface="Cambria Math" panose="02040503050406030204" pitchFamily="18" charset="0"/>
                          <a:ea typeface="Yu Mincho" panose="02020400000000000000" pitchFamily="18" charset="-128"/>
                          <a:cs typeface="Arial" panose="020B0604020202020204" pitchFamily="34" charset="0"/>
                        </a:rPr>
                        <m:t>=1288.24</m:t>
                      </m:r>
                    </m:oMath>
                  </m:oMathPara>
                </a14:m>
                <a:endParaRPr lang="es-CO" sz="1800" kern="100" dirty="0">
                  <a:effectLst/>
                  <a:latin typeface="Times New Roman" panose="02020603050405020304" pitchFamily="18" charset="0"/>
                  <a:ea typeface="Aptos" panose="020B0004020202020204" pitchFamily="34" charset="0"/>
                  <a:cs typeface="Arial" panose="020B0604020202020204" pitchFamily="34" charset="0"/>
                </a:endParaRPr>
              </a:p>
            </p:txBody>
          </p:sp>
        </mc:Choice>
        <mc:Fallback xmlns="">
          <p:sp>
            <p:nvSpPr>
              <p:cNvPr id="5" name="CuadroTexto 4">
                <a:extLst>
                  <a:ext uri="{FF2B5EF4-FFF2-40B4-BE49-F238E27FC236}">
                    <a16:creationId xmlns:a16="http://schemas.microsoft.com/office/drawing/2014/main" id="{4D4CA48B-2938-0C15-A812-464B8B656087}"/>
                  </a:ext>
                </a:extLst>
              </p:cNvPr>
              <p:cNvSpPr txBox="1">
                <a:spLocks noRot="1" noChangeAspect="1" noMove="1" noResize="1" noEditPoints="1" noAdjustHandles="1" noChangeArrowheads="1" noChangeShapeType="1" noTextEdit="1"/>
              </p:cNvSpPr>
              <p:nvPr/>
            </p:nvSpPr>
            <p:spPr>
              <a:xfrm>
                <a:off x="-565265" y="2298436"/>
                <a:ext cx="6118166" cy="2839239"/>
              </a:xfrm>
              <a:prstGeom prst="rect">
                <a:avLst/>
              </a:prstGeom>
              <a:blipFill>
                <a:blip r:embed="rId3"/>
                <a:stretch>
                  <a:fillRect/>
                </a:stretch>
              </a:blipFill>
            </p:spPr>
            <p:txBody>
              <a:bodyPr/>
              <a:lstStyle/>
              <a:p>
                <a:r>
                  <a:rPr lang="es-CO">
                    <a:noFill/>
                  </a:rPr>
                  <a:t> </a:t>
                </a:r>
              </a:p>
            </p:txBody>
          </p:sp>
        </mc:Fallback>
      </mc:AlternateContent>
      <p:pic>
        <p:nvPicPr>
          <p:cNvPr id="4098" name="Picture 2" descr="Matemática Textura Inconsútil Con Varios Matemáticos Signos, Cálculos Y  Fórmulas Ilustraciones svg, vectoriales, clip art vectorizado libre de  derechos. Image 48362882">
            <a:extLst>
              <a:ext uri="{FF2B5EF4-FFF2-40B4-BE49-F238E27FC236}">
                <a16:creationId xmlns:a16="http://schemas.microsoft.com/office/drawing/2014/main" id="{9D07CA18-422F-9E6E-F201-047D964EFC9E}"/>
              </a:ext>
            </a:extLst>
          </p:cNvPr>
          <p:cNvPicPr>
            <a:picLocks noChangeAspect="1" noChangeArrowheads="1"/>
          </p:cNvPicPr>
          <p:nvPr/>
        </p:nvPicPr>
        <p:blipFill>
          <a:blip r:embed="rId4" cstate="screen">
            <a:extLst>
              <a:ext uri="{28A0092B-C50C-407E-A947-70E740481C1C}">
                <a14:useLocalDpi xmlns:a14="http://schemas.microsoft.com/office/drawing/2010/main" val="0"/>
              </a:ext>
            </a:extLst>
          </a:blip>
          <a:srcRect/>
          <a:stretch>
            <a:fillRect/>
          </a:stretch>
        </p:blipFill>
        <p:spPr bwMode="auto">
          <a:xfrm>
            <a:off x="6096000" y="1720326"/>
            <a:ext cx="4949644" cy="4123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36664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12DBC44-1CEA-4395-8F0B-D10824D1236A}"/>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4E46F7FD-DAD0-A61B-14E5-571CEE62CA99}"/>
              </a:ext>
            </a:extLst>
          </p:cNvPr>
          <p:cNvSpPr txBox="1"/>
          <p:nvPr/>
        </p:nvSpPr>
        <p:spPr>
          <a:xfrm>
            <a:off x="1974376" y="3105834"/>
            <a:ext cx="8243248" cy="1200329"/>
          </a:xfrm>
          <a:prstGeom prst="rect">
            <a:avLst/>
          </a:prstGeom>
          <a:noFill/>
        </p:spPr>
        <p:txBody>
          <a:bodyPr wrap="square" rtlCol="0">
            <a:spAutoFit/>
          </a:bodyPr>
          <a:lstStyle/>
          <a:p>
            <a:pPr algn="ctr"/>
            <a:r>
              <a:rPr lang="es-MX" sz="3600" b="1" noProof="0" dirty="0">
                <a:solidFill>
                  <a:schemeClr val="bg1"/>
                </a:solidFill>
                <a:latin typeface="Tahoma" panose="020B0604030504040204" pitchFamily="34" charset="0"/>
                <a:ea typeface="Tahoma" panose="020B0604030504040204" pitchFamily="34" charset="0"/>
                <a:cs typeface="Tahoma" panose="020B0604030504040204" pitchFamily="34" charset="0"/>
              </a:rPr>
              <a:t>Análisis y/o Interpretación de los Resultados</a:t>
            </a:r>
            <a:endParaRPr lang="es-CO" sz="3600" b="1"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1465231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56E7110C-8DEA-931D-9CB5-5386F5362BB7}"/>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88C8CB76-8392-05CC-2258-69C4F4D0C131}"/>
              </a:ext>
            </a:extLst>
          </p:cNvPr>
          <p:cNvSpPr txBox="1"/>
          <p:nvPr/>
        </p:nvSpPr>
        <p:spPr>
          <a:xfrm>
            <a:off x="251473" y="404038"/>
            <a:ext cx="8809081" cy="553998"/>
          </a:xfrm>
          <a:prstGeom prst="rect">
            <a:avLst/>
          </a:prstGeom>
          <a:noFill/>
        </p:spPr>
        <p:txBody>
          <a:bodyPr wrap="square" rtlCol="0">
            <a:spAutoFit/>
          </a:bodyPr>
          <a:lstStyle/>
          <a:p>
            <a:r>
              <a:rPr lang="es-MX" sz="3000" b="1" noProof="0" dirty="0">
                <a:solidFill>
                  <a:schemeClr val="bg1"/>
                </a:solidFill>
                <a:latin typeface="Tahoma" panose="020B0604030504040204" pitchFamily="34" charset="0"/>
                <a:ea typeface="Tahoma" panose="020B0604030504040204" pitchFamily="34" charset="0"/>
                <a:cs typeface="Tahoma" panose="020B0604030504040204" pitchFamily="34" charset="0"/>
              </a:rPr>
              <a:t>Análisis y/o Interpretación de los Resultados</a:t>
            </a:r>
            <a:endParaRPr lang="es-CO" sz="3000" b="1"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8" name="CuadroTexto 7">
            <a:extLst>
              <a:ext uri="{FF2B5EF4-FFF2-40B4-BE49-F238E27FC236}">
                <a16:creationId xmlns:a16="http://schemas.microsoft.com/office/drawing/2014/main" id="{F6580B13-DED0-F758-BD17-31D087B02448}"/>
              </a:ext>
            </a:extLst>
          </p:cNvPr>
          <p:cNvSpPr txBox="1"/>
          <p:nvPr/>
        </p:nvSpPr>
        <p:spPr>
          <a:xfrm>
            <a:off x="375118" y="1494823"/>
            <a:ext cx="5560169" cy="2031325"/>
          </a:xfrm>
          <a:prstGeom prst="rect">
            <a:avLst/>
          </a:prstGeom>
          <a:noFill/>
        </p:spPr>
        <p:txBody>
          <a:bodyPr wrap="square" rtlCol="0">
            <a:spAutoFit/>
          </a:bodyPr>
          <a:lstStyle/>
          <a:p>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El proyecto demuestra que unir matemáticas y tecnología permite medir con precisión el volumen de un tanque esférico. El prototipo con sensor ultrasónico confirmó los cálculos con un menor margen de error, mostrando que es una solución accesible y útil para mejorar la gestión del agua en zonas rurales.</a:t>
            </a:r>
            <a:endParaRPr lang="es-CO"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p:txBody>
      </p:sp>
      <p:pic>
        <p:nvPicPr>
          <p:cNvPr id="8194" name="Picture 2" descr="Vocacion Estadistica: La Discusión de los Resultados de una Investigación">
            <a:extLst>
              <a:ext uri="{FF2B5EF4-FFF2-40B4-BE49-F238E27FC236}">
                <a16:creationId xmlns:a16="http://schemas.microsoft.com/office/drawing/2014/main" id="{D22AF659-A05B-9FEE-815A-6B34329DC665}"/>
              </a:ext>
            </a:extLst>
          </p:cNvPr>
          <p:cNvPicPr>
            <a:picLocks noChangeAspect="1" noChangeArrowheads="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7743266" y="1483332"/>
            <a:ext cx="2634576" cy="194184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LLEGAMOS A MARZO… UN HITO EN EL CONTROL DE GESTIÓN. EL ANÁLISIS HORIZONTAL Y  VERTICAL DE">
            <a:extLst>
              <a:ext uri="{FF2B5EF4-FFF2-40B4-BE49-F238E27FC236}">
                <a16:creationId xmlns:a16="http://schemas.microsoft.com/office/drawing/2014/main" id="{01885EF2-9F5C-C482-43DD-FD65F4DD9B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9841" y="4225212"/>
            <a:ext cx="3974926" cy="2090042"/>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Qué cambia cuando cambia tu forma de interpretar?">
            <a:extLst>
              <a:ext uri="{FF2B5EF4-FFF2-40B4-BE49-F238E27FC236}">
                <a16:creationId xmlns:a16="http://schemas.microsoft.com/office/drawing/2014/main" id="{401EDE7F-007D-6582-BE27-617B7FD6D305}"/>
              </a:ext>
            </a:extLst>
          </p:cNvPr>
          <p:cNvPicPr>
            <a:picLocks noChangeAspect="1" noChangeArrowheads="1"/>
          </p:cNvPicPr>
          <p:nvPr/>
        </p:nvPicPr>
        <p:blipFill>
          <a:blip r:embed="rId5" cstate="screen">
            <a:extLst>
              <a:ext uri="{28A0092B-C50C-407E-A947-70E740481C1C}">
                <a14:useLocalDpi xmlns:a14="http://schemas.microsoft.com/office/drawing/2010/main" val="0"/>
              </a:ext>
            </a:extLst>
          </a:blip>
          <a:srcRect/>
          <a:stretch>
            <a:fillRect/>
          </a:stretch>
        </p:blipFill>
        <p:spPr bwMode="auto">
          <a:xfrm>
            <a:off x="1107233" y="4609323"/>
            <a:ext cx="3137574" cy="1960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2238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407D046-EC11-CA9F-0815-AE9CF92C8EF5}"/>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BA2F2E50-96A4-FB89-C676-3CAEBDF28328}"/>
              </a:ext>
            </a:extLst>
          </p:cNvPr>
          <p:cNvSpPr txBox="1"/>
          <p:nvPr/>
        </p:nvSpPr>
        <p:spPr>
          <a:xfrm>
            <a:off x="1974374" y="2967335"/>
            <a:ext cx="8243248" cy="646331"/>
          </a:xfrm>
          <a:prstGeom prst="rect">
            <a:avLst/>
          </a:prstGeom>
          <a:noFill/>
        </p:spPr>
        <p:txBody>
          <a:bodyPr wrap="square" rtlCol="0">
            <a:spAutoFit/>
          </a:bodyPr>
          <a:lstStyle/>
          <a:p>
            <a:pPr algn="ctr"/>
            <a:r>
              <a:rPr lang="es-CO" sz="3600" b="1" noProof="0" dirty="0">
                <a:solidFill>
                  <a:schemeClr val="bg1"/>
                </a:solidFill>
                <a:latin typeface="Tahoma" panose="020B0604030504040204" pitchFamily="34" charset="0"/>
                <a:ea typeface="Tahoma" panose="020B0604030504040204" pitchFamily="34" charset="0"/>
                <a:cs typeface="Tahoma" panose="020B0604030504040204" pitchFamily="34" charset="0"/>
              </a:rPr>
              <a:t>Conclusiones</a:t>
            </a:r>
            <a:endParaRPr lang="es-CO" b="1"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3558353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824FD32-B035-8B9A-7AAD-2F7DF64C4BF1}"/>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879D766F-5BDF-B899-FF4F-02341D6D648A}"/>
              </a:ext>
            </a:extLst>
          </p:cNvPr>
          <p:cNvSpPr txBox="1"/>
          <p:nvPr/>
        </p:nvSpPr>
        <p:spPr>
          <a:xfrm>
            <a:off x="365595" y="332759"/>
            <a:ext cx="8809081" cy="553998"/>
          </a:xfrm>
          <a:prstGeom prst="rect">
            <a:avLst/>
          </a:prstGeom>
          <a:noFill/>
        </p:spPr>
        <p:txBody>
          <a:bodyPr wrap="square" rtlCol="0">
            <a:spAutoFit/>
          </a:bodyPr>
          <a:lstStyle/>
          <a:p>
            <a:r>
              <a:rPr lang="es-CO" sz="3000" b="1" noProof="0" dirty="0">
                <a:solidFill>
                  <a:schemeClr val="bg1"/>
                </a:solidFill>
                <a:latin typeface="Tahoma" panose="020B0604030504040204" pitchFamily="34" charset="0"/>
                <a:ea typeface="Tahoma" panose="020B0604030504040204" pitchFamily="34" charset="0"/>
                <a:cs typeface="Tahoma" panose="020B0604030504040204" pitchFamily="34" charset="0"/>
              </a:rPr>
              <a:t>Conclusiones</a:t>
            </a:r>
          </a:p>
        </p:txBody>
      </p:sp>
      <p:sp>
        <p:nvSpPr>
          <p:cNvPr id="3" name="CuadroTexto 2">
            <a:extLst>
              <a:ext uri="{FF2B5EF4-FFF2-40B4-BE49-F238E27FC236}">
                <a16:creationId xmlns:a16="http://schemas.microsoft.com/office/drawing/2014/main" id="{233244B9-FC15-F25B-098B-F138686F2EDA}"/>
              </a:ext>
            </a:extLst>
          </p:cNvPr>
          <p:cNvSpPr txBox="1"/>
          <p:nvPr/>
        </p:nvSpPr>
        <p:spPr>
          <a:xfrm>
            <a:off x="365595" y="1395070"/>
            <a:ext cx="6517343" cy="1754326"/>
          </a:xfrm>
          <a:prstGeom prst="rect">
            <a:avLst/>
          </a:prstGeom>
          <a:noFill/>
        </p:spPr>
        <p:txBody>
          <a:bodyPr wrap="square" rtlCol="0">
            <a:spAutoFit/>
          </a:bodyPr>
          <a:lstStyle/>
          <a:p>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El prototipo electrónico pudo obtener los datos mas exactos de las mediciones de volumen en el tanque, debido a los datos generados por el sensor, se interpretaban y calculaban los datos con los metodos de integración triple y calculo por casquetes esféricos reduciendo en gran manera el margen de error humano, y la rapidez de los cálculos.</a:t>
            </a:r>
          </a:p>
        </p:txBody>
      </p:sp>
      <p:pic>
        <p:nvPicPr>
          <p:cNvPr id="7172" name="Picture 4" descr="Imágenes de Conclusiones - Descarga gratuita en Freepik">
            <a:extLst>
              <a:ext uri="{FF2B5EF4-FFF2-40B4-BE49-F238E27FC236}">
                <a16:creationId xmlns:a16="http://schemas.microsoft.com/office/drawing/2014/main" id="{54D6E052-D171-79BD-F352-84C3719F4662}"/>
              </a:ext>
            </a:extLst>
          </p:cNvPr>
          <p:cNvPicPr>
            <a:picLocks noChangeAspect="1" noChangeArrowheads="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7881015" y="1646997"/>
            <a:ext cx="2587322" cy="2587322"/>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CAPÍTULO 5 Conclusiones y recomendaciones | rebecaquesada">
            <a:extLst>
              <a:ext uri="{FF2B5EF4-FFF2-40B4-BE49-F238E27FC236}">
                <a16:creationId xmlns:a16="http://schemas.microsoft.com/office/drawing/2014/main" id="{C5710E4A-FDA0-6624-6B16-B1CA75CFCE90}"/>
              </a:ext>
            </a:extLst>
          </p:cNvPr>
          <p:cNvPicPr>
            <a:picLocks noChangeAspect="1" noChangeArrowheads="1"/>
          </p:cNvPicPr>
          <p:nvPr/>
        </p:nvPicPr>
        <p:blipFill>
          <a:blip r:embed="rId4" cstate="screen">
            <a:extLst>
              <a:ext uri="{28A0092B-C50C-407E-A947-70E740481C1C}">
                <a14:useLocalDpi xmlns:a14="http://schemas.microsoft.com/office/drawing/2010/main" val="0"/>
              </a:ext>
            </a:extLst>
          </a:blip>
          <a:srcRect/>
          <a:stretch>
            <a:fillRect/>
          </a:stretch>
        </p:blipFill>
        <p:spPr bwMode="auto">
          <a:xfrm>
            <a:off x="7231224" y="4457273"/>
            <a:ext cx="3407605" cy="229055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Conclusión: definición, tipos, características y ejemplos">
            <a:extLst>
              <a:ext uri="{FF2B5EF4-FFF2-40B4-BE49-F238E27FC236}">
                <a16:creationId xmlns:a16="http://schemas.microsoft.com/office/drawing/2014/main" id="{7A8A8640-D254-A061-E79C-F6C5D88DDE27}"/>
              </a:ext>
            </a:extLst>
          </p:cNvPr>
          <p:cNvPicPr>
            <a:picLocks noChangeAspect="1" noChangeArrowheads="1"/>
          </p:cNvPicPr>
          <p:nvPr/>
        </p:nvPicPr>
        <p:blipFill>
          <a:blip r:embed="rId5" cstate="screen">
            <a:extLst>
              <a:ext uri="{28A0092B-C50C-407E-A947-70E740481C1C}">
                <a14:useLocalDpi xmlns:a14="http://schemas.microsoft.com/office/drawing/2010/main" val="0"/>
              </a:ext>
            </a:extLst>
          </a:blip>
          <a:srcRect/>
          <a:stretch>
            <a:fillRect/>
          </a:stretch>
        </p:blipFill>
        <p:spPr bwMode="auto">
          <a:xfrm>
            <a:off x="1271748" y="4457273"/>
            <a:ext cx="3976861" cy="2067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17416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5AEB112A-A0EB-AEF4-4D9E-06D3C3E24BC6}"/>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2E146250-29E7-AF03-3F25-293FDB9E547A}"/>
              </a:ext>
            </a:extLst>
          </p:cNvPr>
          <p:cNvSpPr txBox="1"/>
          <p:nvPr/>
        </p:nvSpPr>
        <p:spPr>
          <a:xfrm>
            <a:off x="365595" y="332759"/>
            <a:ext cx="8809081" cy="553998"/>
          </a:xfrm>
          <a:prstGeom prst="rect">
            <a:avLst/>
          </a:prstGeom>
          <a:noFill/>
        </p:spPr>
        <p:txBody>
          <a:bodyPr wrap="square" rtlCol="0">
            <a:spAutoFit/>
          </a:bodyPr>
          <a:lstStyle/>
          <a:p>
            <a:r>
              <a:rPr lang="es-CO" sz="3000" b="1" dirty="0">
                <a:solidFill>
                  <a:schemeClr val="bg1"/>
                </a:solidFill>
                <a:latin typeface="Tahoma" panose="020B0604030504040204" pitchFamily="34" charset="0"/>
                <a:ea typeface="Tahoma" panose="020B0604030504040204" pitchFamily="34" charset="0"/>
                <a:cs typeface="Tahoma" panose="020B0604030504040204" pitchFamily="34" charset="0"/>
              </a:rPr>
              <a:t>Recomendaciones</a:t>
            </a:r>
            <a:endParaRPr lang="es-CO" sz="3000" b="1"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4" name="CuadroTexto 3">
            <a:extLst>
              <a:ext uri="{FF2B5EF4-FFF2-40B4-BE49-F238E27FC236}">
                <a16:creationId xmlns:a16="http://schemas.microsoft.com/office/drawing/2014/main" id="{476AC13B-2946-7655-2D19-AE37C54A345D}"/>
              </a:ext>
            </a:extLst>
          </p:cNvPr>
          <p:cNvSpPr txBox="1"/>
          <p:nvPr/>
        </p:nvSpPr>
        <p:spPr>
          <a:xfrm>
            <a:off x="365595" y="1528074"/>
            <a:ext cx="11441763" cy="2031325"/>
          </a:xfrm>
          <a:prstGeom prst="rect">
            <a:avLst/>
          </a:prstGeom>
          <a:noFill/>
        </p:spPr>
        <p:txBody>
          <a:bodyPr wrap="square" rtlCol="0">
            <a:spAutoFit/>
          </a:bodyPr>
          <a:lstStyle/>
          <a:p>
            <a:pPr marL="285750" indent="-285750">
              <a:buFont typeface="Arial" panose="020B0604020202020204" pitchFamily="34" charset="0"/>
              <a:buChar char="•"/>
            </a:pP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Mejorar la precisión del sistema de medición</a:t>
            </a:r>
          </a:p>
          <a:p>
            <a:pPr marL="285750" indent="-285750">
              <a:buFont typeface="Arial" panose="020B0604020202020204" pitchFamily="34" charset="0"/>
              <a:buChar char="•"/>
            </a:pPr>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pPr marL="285750" indent="-285750">
              <a:buFont typeface="Arial" panose="020B0604020202020204" pitchFamily="34" charset="0"/>
              <a:buChar char="•"/>
            </a:pP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Optimizar la estructura del prototipo</a:t>
            </a:r>
          </a:p>
          <a:p>
            <a:pPr marL="285750" indent="-285750">
              <a:buFont typeface="Arial" panose="020B0604020202020204" pitchFamily="34" charset="0"/>
              <a:buChar char="•"/>
            </a:pPr>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pPr marL="285750" indent="-285750">
              <a:buFont typeface="Arial" panose="020B0604020202020204" pitchFamily="34" charset="0"/>
              <a:buChar char="•"/>
            </a:pP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Implementar almacenamiento y monitoreo remoto</a:t>
            </a:r>
          </a:p>
          <a:p>
            <a:pPr marL="285750" indent="-285750">
              <a:buFont typeface="Arial" panose="020B0604020202020204" pitchFamily="34" charset="0"/>
              <a:buChar char="•"/>
            </a:pPr>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pPr marL="285750" indent="-285750">
              <a:buFont typeface="Arial" panose="020B0604020202020204" pitchFamily="34" charset="0"/>
              <a:buChar char="•"/>
            </a:pP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Realizar pruebas en un tanque de mayor escala</a:t>
            </a:r>
            <a:endParaRPr lang="es-CO"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p:txBody>
      </p:sp>
      <p:pic>
        <p:nvPicPr>
          <p:cNvPr id="8196" name="Picture 4" descr="Listo para lanzar tu primer producto? sigue estas recomendaciones y hazlo  bien | Aicad">
            <a:extLst>
              <a:ext uri="{FF2B5EF4-FFF2-40B4-BE49-F238E27FC236}">
                <a16:creationId xmlns:a16="http://schemas.microsoft.com/office/drawing/2014/main" id="{79209B69-7639-BD00-0E4F-76C529582C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3090" y="3903476"/>
            <a:ext cx="4992575" cy="2852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67784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AA59CF3-5FE6-35BD-B96E-0D96E94BB03F}"/>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148C0397-BF67-13EC-E8FD-89DF284769F2}"/>
              </a:ext>
            </a:extLst>
          </p:cNvPr>
          <p:cNvSpPr txBox="1"/>
          <p:nvPr/>
        </p:nvSpPr>
        <p:spPr>
          <a:xfrm>
            <a:off x="1974376" y="3105834"/>
            <a:ext cx="8243248" cy="646331"/>
          </a:xfrm>
          <a:prstGeom prst="rect">
            <a:avLst/>
          </a:prstGeom>
          <a:noFill/>
        </p:spPr>
        <p:txBody>
          <a:bodyPr wrap="square" rtlCol="0">
            <a:spAutoFit/>
          </a:bodyPr>
          <a:lstStyle/>
          <a:p>
            <a:pPr algn="ctr"/>
            <a:r>
              <a:rPr lang="es-CO" sz="3600" b="1" noProof="0" dirty="0">
                <a:solidFill>
                  <a:schemeClr val="bg1"/>
                </a:solidFill>
                <a:latin typeface="Tahoma" panose="020B0604030504040204" pitchFamily="34" charset="0"/>
                <a:ea typeface="Tahoma" panose="020B0604030504040204" pitchFamily="34" charset="0"/>
                <a:cs typeface="Tahoma" panose="020B0604030504040204" pitchFamily="34" charset="0"/>
              </a:rPr>
              <a:t>Referencias  </a:t>
            </a:r>
          </a:p>
        </p:txBody>
      </p:sp>
    </p:spTree>
    <p:extLst>
      <p:ext uri="{BB962C8B-B14F-4D97-AF65-F5344CB8AC3E}">
        <p14:creationId xmlns:p14="http://schemas.microsoft.com/office/powerpoint/2010/main" val="41477162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5D02E61-38F4-0ED9-54BB-12F6CA88F2D3}"/>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29FD5E66-A4DD-BA84-D848-7190CA095308}"/>
              </a:ext>
            </a:extLst>
          </p:cNvPr>
          <p:cNvSpPr txBox="1"/>
          <p:nvPr/>
        </p:nvSpPr>
        <p:spPr>
          <a:xfrm>
            <a:off x="251473" y="404038"/>
            <a:ext cx="8809081" cy="553998"/>
          </a:xfrm>
          <a:prstGeom prst="rect">
            <a:avLst/>
          </a:prstGeom>
          <a:noFill/>
        </p:spPr>
        <p:txBody>
          <a:bodyPr wrap="square" rtlCol="0">
            <a:spAutoFit/>
          </a:bodyPr>
          <a:lstStyle/>
          <a:p>
            <a:r>
              <a:rPr lang="es-CO" sz="3000" b="1" noProof="0" dirty="0">
                <a:solidFill>
                  <a:schemeClr val="bg1"/>
                </a:solidFill>
                <a:latin typeface="Tahoma" panose="020B0604030504040204" pitchFamily="34" charset="0"/>
                <a:ea typeface="Tahoma" panose="020B0604030504040204" pitchFamily="34" charset="0"/>
                <a:cs typeface="Tahoma" panose="020B0604030504040204" pitchFamily="34" charset="0"/>
              </a:rPr>
              <a:t>Referencias </a:t>
            </a:r>
          </a:p>
        </p:txBody>
      </p:sp>
      <p:sp>
        <p:nvSpPr>
          <p:cNvPr id="5" name="CuadroTexto 4">
            <a:extLst>
              <a:ext uri="{FF2B5EF4-FFF2-40B4-BE49-F238E27FC236}">
                <a16:creationId xmlns:a16="http://schemas.microsoft.com/office/drawing/2014/main" id="{35906DE5-A306-5FBB-5BF5-CB4F0A4EA97F}"/>
              </a:ext>
            </a:extLst>
          </p:cNvPr>
          <p:cNvSpPr txBox="1"/>
          <p:nvPr/>
        </p:nvSpPr>
        <p:spPr>
          <a:xfrm>
            <a:off x="312433" y="1279973"/>
            <a:ext cx="11441763" cy="5355312"/>
          </a:xfrm>
          <a:prstGeom prst="rect">
            <a:avLst/>
          </a:prstGeom>
          <a:noFill/>
        </p:spPr>
        <p:txBody>
          <a:bodyPr wrap="square" rtlCol="0">
            <a:spAutoFit/>
          </a:bodyPr>
          <a:lstStyle/>
          <a:p>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Aljundi</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L. (16 de 01 de 2024). ARDUINODOCS. Obtenido de ARDUINODOCS: </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hlinkClick r:id="rId3"/>
              </a:rPr>
              <a:t>https://docs.arduino.cc/learn/starting-guide/the-arduino-software-ide/</a:t>
            </a:r>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AWS. (2024). AWS. Obtenido de AWS: </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hlinkClick r:id="rId4"/>
              </a:rPr>
              <a:t>https://aws.amazon.com/es/what-is/ajax/</a:t>
            </a:r>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geeksforgeeks</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(23 de Julio de 2025). Fórmula de volumen de tapa esférica con ejemplos resueltos. Obtenido de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geeksforgeeks</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hlinkClick r:id="rId5"/>
              </a:rPr>
              <a:t>https://www.geeksforgeeks.org/maths/spherical-cap-volume-formula/</a:t>
            </a:r>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Hesee</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K. (23 de septiembre de 2011). Integración numérica con exactitud polinómica sobre un casquete esférico. Obtenido de SPRINGER NATURE Link: </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hlinkClick r:id="rId6"/>
              </a:rPr>
              <a:t>https://link.springer.com/article/10.1007/s10444-011-9187-2</a:t>
            </a:r>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Khan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Academy</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(2025). Integrales dobles. Obtenido de Khan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Academy</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hlinkClick r:id="rId7"/>
              </a:rPr>
              <a:t>https://es.khanacademy.org/math/multivariable-calculus/integrating-multivariable-functions/double-integrals-a/a/double-integrals</a:t>
            </a:r>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Khan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Academy</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(2025). Integrales triples. Obtenido de Khan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Academy</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hlinkClick r:id="rId8"/>
              </a:rPr>
              <a:t>https://es.khanacademy.org/math/multivariable-calculus/integrating-multivariable-functions/triple-integrals-topic/a/triple-integrals</a:t>
            </a:r>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0656412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76F65FC-F4CB-C51D-3526-CA6368F11EB4}"/>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9C9DCFCA-5589-8CAE-58FF-6D9272698C9C}"/>
              </a:ext>
            </a:extLst>
          </p:cNvPr>
          <p:cNvSpPr txBox="1"/>
          <p:nvPr/>
        </p:nvSpPr>
        <p:spPr>
          <a:xfrm>
            <a:off x="251473" y="404038"/>
            <a:ext cx="8809081" cy="553998"/>
          </a:xfrm>
          <a:prstGeom prst="rect">
            <a:avLst/>
          </a:prstGeom>
          <a:noFill/>
        </p:spPr>
        <p:txBody>
          <a:bodyPr wrap="square" rtlCol="0">
            <a:spAutoFit/>
          </a:bodyPr>
          <a:lstStyle/>
          <a:p>
            <a:r>
              <a:rPr lang="es-CO" sz="3000" b="1" noProof="0" dirty="0">
                <a:solidFill>
                  <a:schemeClr val="bg1"/>
                </a:solidFill>
                <a:latin typeface="Tahoma" panose="020B0604030504040204" pitchFamily="34" charset="0"/>
                <a:ea typeface="Tahoma" panose="020B0604030504040204" pitchFamily="34" charset="0"/>
                <a:cs typeface="Tahoma" panose="020B0604030504040204" pitchFamily="34" charset="0"/>
              </a:rPr>
              <a:t>Referencias </a:t>
            </a:r>
          </a:p>
        </p:txBody>
      </p:sp>
      <p:sp>
        <p:nvSpPr>
          <p:cNvPr id="5" name="CuadroTexto 4">
            <a:extLst>
              <a:ext uri="{FF2B5EF4-FFF2-40B4-BE49-F238E27FC236}">
                <a16:creationId xmlns:a16="http://schemas.microsoft.com/office/drawing/2014/main" id="{1C9E36CF-DCAB-168C-ACA5-526AABD4B8EA}"/>
              </a:ext>
            </a:extLst>
          </p:cNvPr>
          <p:cNvSpPr txBox="1"/>
          <p:nvPr/>
        </p:nvSpPr>
        <p:spPr>
          <a:xfrm>
            <a:off x="312433" y="1279973"/>
            <a:ext cx="11441763" cy="3416320"/>
          </a:xfrm>
          <a:prstGeom prst="rect">
            <a:avLst/>
          </a:prstGeom>
          <a:noFill/>
        </p:spPr>
        <p:txBody>
          <a:bodyPr wrap="square" rtlCol="0">
            <a:spAutoFit/>
          </a:bodyPr>
          <a:lstStyle/>
          <a:p>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M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mdn</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_. (2025). M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mdn</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_. Obtenido de M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mdn</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_: </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hlinkClick r:id="rId3"/>
              </a:rPr>
              <a:t>https://developer.mozilla.org/es/docs/Learn_web_development/Getting_started/Your_first_website/Creating_the_content</a:t>
            </a:r>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M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mdn</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_. (2025). M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mdn</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_. Obtenido de M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mdn</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_: </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hlinkClick r:id="rId4"/>
              </a:rPr>
              <a:t>https://developer.mozilla.org/es/docs/Learn_web_development/Core/Scripting/What_is_JavaScript</a:t>
            </a:r>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M, S. (7 de junio de 2017). Construye un lector de volumen de tanque por menos de $30 usando ESP32. Obtenido de </a:t>
            </a:r>
            <a:r>
              <a:rPr lang="es-MX" noProof="0" dirty="0" err="1">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ubidots</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rPr>
              <a:t>: </a:t>
            </a:r>
            <a:r>
              <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hlinkClick r:id="rId5"/>
              </a:rPr>
              <a:t>https://help.ubidots.com/es/articles/937072-construye-un-lector-de-volumen-de-tanque-por-menos-de-30-usando-esp32#requirements</a:t>
            </a:r>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a:p>
            <a:endParaRPr lang="es-MX" noProof="0" dirty="0">
              <a:solidFill>
                <a:schemeClr val="bg2">
                  <a:lumMod val="25000"/>
                </a:schemeClr>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4504720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973641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840AD9133C0D724A9578894641EED81B" ma:contentTypeVersion="18" ma:contentTypeDescription="Crear nuevo documento." ma:contentTypeScope="" ma:versionID="6fd188e1ed197dbf351fbd8db8353350">
  <xsd:schema xmlns:xsd="http://www.w3.org/2001/XMLSchema" xmlns:xs="http://www.w3.org/2001/XMLSchema" xmlns:p="http://schemas.microsoft.com/office/2006/metadata/properties" xmlns:ns2="1706453d-fa90-4932-9f3b-434683c467fd" xmlns:ns3="f15f96f9-fa32-4964-8835-59ada6b736b2" targetNamespace="http://schemas.microsoft.com/office/2006/metadata/properties" ma:root="true" ma:fieldsID="e0f542a8f63332bd5e67612aeac57830" ns2:_="" ns3:_="">
    <xsd:import namespace="1706453d-fa90-4932-9f3b-434683c467fd"/>
    <xsd:import namespace="f15f96f9-fa32-4964-8835-59ada6b736b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GenerationTime" minOccurs="0"/>
                <xsd:element ref="ns2:MediaServiceEventHashCode" minOccurs="0"/>
                <xsd:element ref="ns3:SharedWithUsers" minOccurs="0"/>
                <xsd:element ref="ns3:SharedWithDetails" minOccurs="0"/>
                <xsd:element ref="ns2:MediaServiceOCR" minOccurs="0"/>
                <xsd:element ref="ns2:MediaServiceLocation" minOccurs="0"/>
                <xsd:element ref="ns2:lcf76f155ced4ddcb4097134ff3c332f" minOccurs="0"/>
                <xsd:element ref="ns3:TaxCatchAll" minOccurs="0"/>
                <xsd:element ref="ns2:MediaServiceAutoKeyPoints" minOccurs="0"/>
                <xsd:element ref="ns2:MediaServiceKeyPoints"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06453d-fa90-4932-9f3b-434683c467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lcf76f155ced4ddcb4097134ff3c332f" ma:index="18" nillable="true" ma:taxonomy="true" ma:internalName="lcf76f155ced4ddcb4097134ff3c332f" ma:taxonomyFieldName="MediaServiceImageTags" ma:displayName="Etiquetas de imagen" ma:readOnly="false" ma:fieldId="{5cf76f15-5ced-4ddc-b409-7134ff3c332f}" ma:taxonomyMulti="true" ma:sspId="1eeeb009-2a73-4a0b-b1bc-1c86c47f4001" ma:termSetId="09814cd3-568e-fe90-9814-8d621ff8fb84" ma:anchorId="fba54fb3-c3e1-fe81-a776-ca4b69148c4d" ma:open="true" ma:isKeyword="false">
      <xsd:complexType>
        <xsd:sequence>
          <xsd:element ref="pc:Terms" minOccurs="0" maxOccurs="1"/>
        </xsd:sequence>
      </xsd:complex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MediaLengthInSeconds" ma:index="22"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15f96f9-fa32-4964-8835-59ada6b736b2" elementFormDefault="qualified">
    <xsd:import namespace="http://schemas.microsoft.com/office/2006/documentManagement/types"/>
    <xsd:import namespace="http://schemas.microsoft.com/office/infopath/2007/PartnerControls"/>
    <xsd:element name="SharedWithUsers" ma:index="13"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Detalles de uso compartido" ma:internalName="SharedWithDetails" ma:readOnly="true">
      <xsd:simpleType>
        <xsd:restriction base="dms:Note">
          <xsd:maxLength value="255"/>
        </xsd:restriction>
      </xsd:simpleType>
    </xsd:element>
    <xsd:element name="TaxCatchAll" ma:index="19" nillable="true" ma:displayName="Taxonomy Catch All Column" ma:hidden="true" ma:list="{0fdb1602-2f45-43ed-8f87-8aaa59034fd2}" ma:internalName="TaxCatchAll" ma:showField="CatchAllData" ma:web="f15f96f9-fa32-4964-8835-59ada6b736b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706453d-fa90-4932-9f3b-434683c467fd">
      <Terms xmlns="http://schemas.microsoft.com/office/infopath/2007/PartnerControls"/>
    </lcf76f155ced4ddcb4097134ff3c332f>
    <TaxCatchAll xmlns="f15f96f9-fa32-4964-8835-59ada6b736b2" xsi:nil="true"/>
  </documentManagement>
</p:properties>
</file>

<file path=customXml/itemProps1.xml><?xml version="1.0" encoding="utf-8"?>
<ds:datastoreItem xmlns:ds="http://schemas.openxmlformats.org/officeDocument/2006/customXml" ds:itemID="{5B9176D0-147E-4FAC-8920-469B3F584A84}">
  <ds:schemaRefs>
    <ds:schemaRef ds:uri="http://schemas.microsoft.com/sharepoint/v3/contenttype/forms"/>
  </ds:schemaRefs>
</ds:datastoreItem>
</file>

<file path=customXml/itemProps2.xml><?xml version="1.0" encoding="utf-8"?>
<ds:datastoreItem xmlns:ds="http://schemas.openxmlformats.org/officeDocument/2006/customXml" ds:itemID="{9DCDFB25-F99F-41E4-991D-64FD20BEF6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706453d-fa90-4932-9f3b-434683c467fd"/>
    <ds:schemaRef ds:uri="f15f96f9-fa32-4964-8835-59ada6b736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C39F90C-5660-40E2-8B38-0E70C7FD92C3}">
  <ds:schemaRefs>
    <ds:schemaRef ds:uri="http://schemas.microsoft.com/office/2006/metadata/properties"/>
    <ds:schemaRef ds:uri="http://schemas.microsoft.com/office/infopath/2007/PartnerControls"/>
    <ds:schemaRef ds:uri="1706453d-fa90-4932-9f3b-434683c467fd"/>
    <ds:schemaRef ds:uri="f15f96f9-fa32-4964-8835-59ada6b736b2"/>
  </ds:schemaRefs>
</ds:datastoreItem>
</file>

<file path=docProps/app.xml><?xml version="1.0" encoding="utf-8"?>
<Properties xmlns="http://schemas.openxmlformats.org/officeDocument/2006/extended-properties" xmlns:vt="http://schemas.openxmlformats.org/officeDocument/2006/docPropsVTypes">
  <Template>Wisp</Template>
  <TotalTime>4477</TotalTime>
  <Words>1131</Words>
  <Application>Microsoft Office PowerPoint</Application>
  <PresentationFormat>Panorámica</PresentationFormat>
  <Paragraphs>120</Paragraphs>
  <Slides>35</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35</vt:i4>
      </vt:variant>
    </vt:vector>
  </HeadingPairs>
  <TitlesOfParts>
    <vt:vector size="42" baseType="lpstr">
      <vt:lpstr>Arial</vt:lpstr>
      <vt:lpstr>Calibri</vt:lpstr>
      <vt:lpstr>Calibri Light</vt:lpstr>
      <vt:lpstr>Cambria Math</vt:lpstr>
      <vt:lpstr>Tahoma</vt:lpstr>
      <vt:lpstr>Times New Roman</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Catalina Ángel Ángel</dc:creator>
  <cp:lastModifiedBy>Carlos Daniel Useda Gonzalez</cp:lastModifiedBy>
  <cp:revision>57</cp:revision>
  <dcterms:created xsi:type="dcterms:W3CDTF">2023-02-22T16:15:48Z</dcterms:created>
  <dcterms:modified xsi:type="dcterms:W3CDTF">2025-11-19T03:40:03Z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0x010100840AD9133C0D724A9578894641EED81B</vt:lpwstr>
  </property>
</Properties>
</file>